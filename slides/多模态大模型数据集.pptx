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3930" r:id="rId3"/>
    <p:sldId id="4124" r:id="rId5"/>
    <p:sldId id="4126" r:id="rId6"/>
    <p:sldId id="4125" r:id="rId7"/>
    <p:sldId id="4127" r:id="rId8"/>
    <p:sldId id="4116" r:id="rId9"/>
    <p:sldId id="4128" r:id="rId10"/>
    <p:sldId id="4117" r:id="rId11"/>
    <p:sldId id="4118" r:id="rId12"/>
    <p:sldId id="4119" r:id="rId13"/>
    <p:sldId id="4120" r:id="rId14"/>
    <p:sldId id="4121" r:id="rId15"/>
    <p:sldId id="4122" r:id="rId16"/>
    <p:sldId id="340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615900558199" initials="8"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B0"/>
    <a:srgbClr val="D9D9D9"/>
    <a:srgbClr val="2F6FFF"/>
    <a:srgbClr val="E3E3E3"/>
    <a:srgbClr val="0040D0"/>
    <a:srgbClr val="D9E5FF"/>
    <a:srgbClr val="B3CBFF"/>
    <a:srgbClr val="096347"/>
    <a:srgbClr val="F6B616"/>
    <a:srgbClr val="E1A4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77" autoAdjust="0"/>
    <p:restoredTop sz="96366" autoAdjust="0"/>
  </p:normalViewPr>
  <p:slideViewPr>
    <p:cSldViewPr snapToGrid="0">
      <p:cViewPr>
        <p:scale>
          <a:sx n="78" d="100"/>
          <a:sy n="78" d="100"/>
        </p:scale>
        <p:origin x="1758" y="80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3B2E-72E9-42EF-92BE-9914AEB385D5}"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4462C-3F70-449B-AEA9-E9DC73B2E2C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这篇论文中科院</a:t>
            </a:r>
            <a:r>
              <a:rPr lang="zh-CN" altLang="en-US"/>
              <a:t>的最新综述，这篇综述系统梳理了从传统文本大模型，到多模态大模型，再到智能体系统中的越狱攻击与防御方法。我的汇报重点放在越狱攻击部分，主要从两个角度展开：第一是攻击影响角度，也就是攻击发生在哪个阶段、干预模型哪一层；第二是攻击者权限角度，也就是攻击者是在白盒还是黑盒条件下实施攻击。</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JailBreakV-28K </a:t>
            </a:r>
            <a:r>
              <a:rPr lang="zh-CN" altLang="en-US"/>
              <a:t>是面向多模态大模型的越狱攻击评测基准，包含约 28,000 组图文样本，用于测试多模态模型在面对文本越狱迁移和视觉越狱攻击时的安全鲁棒性。</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VLSBench </a:t>
            </a:r>
            <a:r>
              <a:rPr lang="zh-CN" altLang="en-US"/>
              <a:t>的核心价值在于消除文本中的危险信息泄漏，使模型必须依赖图像理解完成安全判断，因此更适合评估真实的视觉安全能力。</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数据形式：</a:t>
            </a:r>
            <a:endParaRPr lang="zh-CN" altLang="en-US"/>
          </a:p>
          <a:p>
            <a:r>
              <a:rPr lang="en-US" altLang="zh-CN"/>
              <a:t>RTVLM </a:t>
            </a:r>
            <a:r>
              <a:rPr lang="zh-CN" altLang="en-US"/>
              <a:t>中每条样本通常由四部分组成：</a:t>
            </a:r>
            <a:endParaRPr lang="zh-CN" altLang="en-US"/>
          </a:p>
          <a:p>
            <a:r>
              <a:rPr lang="en-US" altLang="zh-CN"/>
              <a:t>Image：</a:t>
            </a:r>
            <a:r>
              <a:rPr lang="zh-CN" altLang="en-US"/>
              <a:t>单张图像；</a:t>
            </a:r>
            <a:endParaRPr lang="zh-CN" altLang="en-US"/>
          </a:p>
          <a:p>
            <a:r>
              <a:rPr lang="en-US" altLang="zh-CN"/>
              <a:t>Question：</a:t>
            </a:r>
            <a:r>
              <a:rPr lang="zh-CN" altLang="en-US"/>
              <a:t>由人工或 </a:t>
            </a:r>
            <a:r>
              <a:rPr lang="en-US" altLang="zh-CN"/>
              <a:t>GPT-4 </a:t>
            </a:r>
            <a:r>
              <a:rPr lang="zh-CN" altLang="en-US"/>
              <a:t>生成的 </a:t>
            </a:r>
            <a:r>
              <a:rPr lang="en-US" altLang="zh-CN"/>
              <a:t>red teaming question；</a:t>
            </a:r>
            <a:endParaRPr lang="en-US" altLang="zh-CN"/>
          </a:p>
          <a:p>
            <a:r>
              <a:rPr lang="en-US" altLang="zh-CN"/>
              <a:t>Refuse to Answer label：</a:t>
            </a:r>
            <a:r>
              <a:rPr lang="zh-CN" altLang="en-US"/>
              <a:t>根据伦理风险判断模型应当回答、谨慎回答，还是拒绝回答；</a:t>
            </a:r>
            <a:endParaRPr lang="zh-CN" altLang="en-US"/>
          </a:p>
          <a:p>
            <a:r>
              <a:rPr lang="en-US" altLang="zh-CN"/>
              <a:t>Reference：</a:t>
            </a:r>
            <a:r>
              <a:rPr lang="zh-CN" altLang="en-US"/>
              <a:t>任务参考答案，来自人工或 </a:t>
            </a:r>
            <a:r>
              <a:rPr lang="en-US" altLang="zh-CN"/>
              <a:t>GPT-4。</a:t>
            </a:r>
            <a:endParaRPr lang="en-US" altLang="zh-CN"/>
          </a:p>
          <a:p>
            <a:endParaRPr lang="en-US" altLang="zh-CN"/>
          </a:p>
          <a:p>
            <a:r>
              <a:rPr lang="zh-CN" altLang="en-US"/>
              <a:t>数据规模与分类：</a:t>
            </a:r>
            <a:endParaRPr lang="zh-CN" altLang="en-US"/>
          </a:p>
          <a:p>
            <a:r>
              <a:rPr lang="zh-CN" altLang="en-US"/>
              <a:t>原始 </a:t>
            </a:r>
            <a:r>
              <a:rPr lang="en-US" altLang="zh-CN"/>
              <a:t>RTVLM </a:t>
            </a:r>
            <a:r>
              <a:rPr lang="zh-CN" altLang="en-US"/>
              <a:t>包含 10,200 条样本，覆盖 4 个主要方面 和 12 个子任务。四个方面分别是：</a:t>
            </a:r>
            <a:endParaRPr lang="zh-CN" altLang="en-US"/>
          </a:p>
          <a:p>
            <a:endParaRPr lang="en-US" altLang="zh-CN"/>
          </a:p>
          <a:p>
            <a:r>
              <a:rPr lang="en-US" altLang="zh-CN"/>
              <a:t>Faithfulness </a:t>
            </a:r>
            <a:r>
              <a:rPr lang="zh-CN" altLang="en-US"/>
              <a:t>真实性/忠实性：测试模型是否会被误导图像或错误文本影响，例如 </a:t>
            </a:r>
            <a:r>
              <a:rPr lang="en-US" altLang="zh-CN"/>
              <a:t>image misleading、text misleading、image order </a:t>
            </a:r>
            <a:r>
              <a:rPr lang="zh-CN" altLang="en-US"/>
              <a:t>等任务。</a:t>
            </a:r>
            <a:endParaRPr lang="zh-CN" altLang="en-US"/>
          </a:p>
          <a:p>
            <a:r>
              <a:rPr lang="en-US" altLang="zh-CN"/>
              <a:t>Privacy </a:t>
            </a:r>
            <a:r>
              <a:rPr lang="zh-CN" altLang="en-US"/>
              <a:t>隐私：测试模型是否会泄露或推断个人隐私信息，例如 </a:t>
            </a:r>
            <a:r>
              <a:rPr lang="en-US" altLang="zh-CN"/>
              <a:t>celebrity / private individual </a:t>
            </a:r>
            <a:r>
              <a:rPr lang="zh-CN" altLang="en-US"/>
              <a:t>相关任务。</a:t>
            </a:r>
            <a:endParaRPr lang="zh-CN" altLang="en-US"/>
          </a:p>
          <a:p>
            <a:r>
              <a:rPr lang="en-US" altLang="zh-CN"/>
              <a:t>Safety </a:t>
            </a:r>
            <a:r>
              <a:rPr lang="zh-CN" altLang="en-US"/>
              <a:t>安全性：测试模型面对潜在危险或不应回答的图文输入时是否能够拒答，包括 </a:t>
            </a:r>
            <a:r>
              <a:rPr lang="en-US" altLang="zh-CN"/>
              <a:t>CAPTCHA、multimodal jailbreak、hate、crime </a:t>
            </a:r>
            <a:r>
              <a:rPr lang="zh-CN" altLang="en-US"/>
              <a:t>等任务。</a:t>
            </a:r>
            <a:endParaRPr lang="zh-CN" altLang="en-US"/>
          </a:p>
          <a:p>
            <a:r>
              <a:rPr lang="en-US" altLang="zh-CN"/>
              <a:t>Fairness </a:t>
            </a:r>
            <a:r>
              <a:rPr lang="zh-CN" altLang="en-US"/>
              <a:t>公平性：测试模型在不同性别、种族等人物图像上的偏见表现，例如 </a:t>
            </a:r>
            <a:r>
              <a:rPr lang="en-US" altLang="zh-CN"/>
              <a:t>face fairness </a:t>
            </a:r>
            <a:r>
              <a:rPr lang="zh-CN" altLang="en-US"/>
              <a:t>任务</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显示音频越狱是用来</a:t>
            </a:r>
            <a:r>
              <a:rPr lang="zh-CN" altLang="en-US"/>
              <a:t>测试模型是否会对“以语音形式输入的直接危险请求”执行安全拒绝。</a:t>
            </a:r>
            <a:endParaRPr lang="zh-CN" altLang="en-US"/>
          </a:p>
          <a:p>
            <a:r>
              <a:rPr lang="zh-CN" altLang="en-US"/>
              <a:t>隐式音频是用来</a:t>
            </a:r>
            <a:r>
              <a:rPr lang="zh-CN" altLang="en-US"/>
              <a:t>测试模型是否会因为音频通道中的隐蔽语义而绕过安全机制。</a:t>
            </a:r>
            <a:endParaRPr lang="zh-CN" altLang="en-US"/>
          </a:p>
          <a:p>
            <a:r>
              <a:rPr lang="en-US" altLang="zh-CN"/>
              <a:t>Tone	</a:t>
            </a:r>
            <a:r>
              <a:rPr lang="zh-CN" altLang="en-US"/>
              <a:t>改变音高，如升调或降调</a:t>
            </a:r>
            <a:endParaRPr lang="zh-CN" altLang="en-US"/>
          </a:p>
          <a:p>
            <a:r>
              <a:rPr lang="en-US" altLang="zh-CN"/>
              <a:t>Speed	</a:t>
            </a:r>
            <a:r>
              <a:rPr lang="zh-CN" altLang="en-US"/>
              <a:t>改变语速，如加速或减速</a:t>
            </a:r>
            <a:endParaRPr lang="zh-CN" altLang="en-US"/>
          </a:p>
          <a:p>
            <a:r>
              <a:rPr lang="en-US" altLang="zh-CN"/>
              <a:t>Emphasis	</a:t>
            </a:r>
            <a:r>
              <a:rPr lang="zh-CN" altLang="en-US"/>
              <a:t>对部分危险关键词进行重读或弱读</a:t>
            </a:r>
            <a:endParaRPr lang="zh-CN" altLang="en-US"/>
          </a:p>
          <a:p>
            <a:r>
              <a:rPr lang="en-US" altLang="zh-CN"/>
              <a:t>Intonation	</a:t>
            </a:r>
            <a:r>
              <a:rPr lang="zh-CN" altLang="en-US"/>
              <a:t>改变句子的语调和韵律</a:t>
            </a:r>
            <a:endParaRPr lang="zh-CN" altLang="en-US"/>
          </a:p>
          <a:p>
            <a:r>
              <a:rPr lang="en-US" altLang="zh-CN"/>
              <a:t>Background Noise	</a:t>
            </a:r>
            <a:r>
              <a:rPr lang="zh-CN" altLang="en-US"/>
              <a:t>添加环境声、白噪声等背景干扰</a:t>
            </a:r>
            <a:endParaRPr lang="zh-CN" altLang="en-US"/>
          </a:p>
          <a:p>
            <a:r>
              <a:rPr lang="en-US" altLang="zh-CN"/>
              <a:t>Accent	</a:t>
            </a:r>
            <a:r>
              <a:rPr lang="zh-CN" altLang="en-US"/>
              <a:t>改变说话人口音或声音风格</a:t>
            </a:r>
            <a:endParaRPr lang="zh-CN" altLang="en-US"/>
          </a:p>
          <a:p>
            <a:r>
              <a:rPr lang="en-US" altLang="zh-CN"/>
              <a:t>Emotion	</a:t>
            </a:r>
            <a:r>
              <a:rPr lang="zh-CN" altLang="en-US"/>
              <a:t>使用愤怒、悲伤、兴奋等不同情绪朗读</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时域：能量调整、局部裁剪、渐入渐出；</a:t>
            </a:r>
            <a:endParaRPr lang="zh-CN" altLang="en-US"/>
          </a:p>
          <a:p>
            <a:r>
              <a:rPr lang="zh-CN" altLang="en-US"/>
              <a:t>频域：音高变化、语速伸缩；</a:t>
            </a:r>
            <a:endParaRPr lang="zh-CN" altLang="en-US"/>
          </a:p>
          <a:p>
            <a:r>
              <a:rPr lang="zh-CN" altLang="en-US"/>
              <a:t>混合型：次声/超声信号叠加、自然噪声注入。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Harmful Query	</a:t>
            </a:r>
            <a:r>
              <a:rPr lang="zh-CN" altLang="en-US"/>
              <a:t>有害文本问题及其语音版本	测试模型对直接危险请求的拒绝能力</a:t>
            </a:r>
            <a:endParaRPr lang="zh-CN" altLang="en-US"/>
          </a:p>
          <a:p>
            <a:r>
              <a:rPr lang="en-US" altLang="zh-CN"/>
              <a:t>Diverse Audio	</a:t>
            </a:r>
            <a:r>
              <a:rPr lang="zh-CN" altLang="en-US"/>
              <a:t>多语言、不同性别、口音和 </a:t>
            </a:r>
            <a:r>
              <a:rPr lang="en-US" altLang="zh-CN"/>
              <a:t>TTS </a:t>
            </a:r>
            <a:r>
              <a:rPr lang="zh-CN" altLang="en-US"/>
              <a:t>生成的音频	测试模型安全性是否受声音特征影响</a:t>
            </a:r>
            <a:endParaRPr lang="zh-CN" altLang="en-US"/>
          </a:p>
          <a:p>
            <a:r>
              <a:rPr lang="en-US" altLang="zh-CN"/>
              <a:t>Attack Audio	</a:t>
            </a:r>
            <a:r>
              <a:rPr lang="zh-CN" altLang="en-US"/>
              <a:t>文本迁移攻击和音频原生攻击生成的对抗音频	测试音频越狱攻击成功率</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Harmful Query	</a:t>
            </a:r>
            <a:r>
              <a:rPr lang="zh-CN" altLang="en-US"/>
              <a:t>有害文本问题及其语音版本	测试模型对直接危险请求的拒绝能力</a:t>
            </a:r>
            <a:endParaRPr lang="zh-CN" altLang="en-US"/>
          </a:p>
          <a:p>
            <a:r>
              <a:rPr lang="en-US" altLang="zh-CN"/>
              <a:t>Diverse Audio	</a:t>
            </a:r>
            <a:r>
              <a:rPr lang="zh-CN" altLang="en-US"/>
              <a:t>多语言、不同性别、口音和 </a:t>
            </a:r>
            <a:r>
              <a:rPr lang="en-US" altLang="zh-CN"/>
              <a:t>TTS </a:t>
            </a:r>
            <a:r>
              <a:rPr lang="zh-CN" altLang="en-US"/>
              <a:t>生成的音频	测试模型安全性是否受声音特征影响</a:t>
            </a:r>
            <a:endParaRPr lang="zh-CN" altLang="en-US"/>
          </a:p>
          <a:p>
            <a:r>
              <a:rPr lang="en-US" altLang="zh-CN"/>
              <a:t>Attack Audio	</a:t>
            </a:r>
            <a:r>
              <a:rPr lang="zh-CN" altLang="en-US"/>
              <a:t>文本迁移攻击和音频原生攻击生成的对抗音频	测试音频越狱攻击成功率</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Harmful Query	</a:t>
            </a:r>
            <a:r>
              <a:rPr lang="zh-CN" altLang="en-US"/>
              <a:t>文本问题本身包含明确危险意图	测试模型面对“视频 + 显式危险请求”时是否拒绝</a:t>
            </a:r>
            <a:endParaRPr lang="zh-CN" altLang="en-US"/>
          </a:p>
          <a:p>
            <a:r>
              <a:rPr lang="en-US" altLang="zh-CN"/>
              <a:t>Benign Query	</a:t>
            </a:r>
            <a:r>
              <a:rPr lang="zh-CN" altLang="en-US"/>
              <a:t>文本表面无害，但结合视频后会诱导危险回答	测试模型是否能识别视频语境中的隐式安全风险</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类型	输入形式	测试重点</a:t>
            </a:r>
            <a:endParaRPr lang="zh-CN" altLang="en-US"/>
          </a:p>
          <a:p>
            <a:r>
              <a:rPr lang="en-US" altLang="zh-CN"/>
              <a:t>Text	</a:t>
            </a:r>
            <a:r>
              <a:rPr lang="zh-CN" altLang="en-US"/>
              <a:t>纯文本危险请求	语言侧安全基线</a:t>
            </a:r>
            <a:endParaRPr lang="zh-CN" altLang="en-US"/>
          </a:p>
          <a:p>
            <a:r>
              <a:rPr lang="en-US" altLang="zh-CN"/>
              <a:t>Image	</a:t>
            </a:r>
            <a:r>
              <a:rPr lang="zh-CN" altLang="en-US"/>
              <a:t>图像 + 文本	视觉输入是否削弱安全拒绝</a:t>
            </a:r>
            <a:endParaRPr lang="zh-CN" altLang="en-US"/>
          </a:p>
          <a:p>
            <a:r>
              <a:rPr lang="en-US" altLang="zh-CN"/>
              <a:t>Video	</a:t>
            </a:r>
            <a:r>
              <a:rPr lang="zh-CN" altLang="en-US"/>
              <a:t>视频 + 文本	动态视觉场景下的安全鲁棒性</a:t>
            </a:r>
            <a:endParaRPr lang="zh-CN" altLang="en-US"/>
          </a:p>
          <a:p>
            <a:r>
              <a:rPr lang="en-US" altLang="zh-CN"/>
              <a:t>Audio	</a:t>
            </a:r>
            <a:r>
              <a:rPr lang="zh-CN" altLang="en-US"/>
              <a:t>音频 + 文本	语音输入是否绕过文本安全机制</a:t>
            </a:r>
            <a:endParaRPr lang="zh-CN" altLang="en-US"/>
          </a:p>
          <a:p>
            <a:r>
              <a:rPr lang="en-US" altLang="zh-CN"/>
              <a:t>Audio-Visual	</a:t>
            </a:r>
            <a:r>
              <a:rPr lang="zh-CN" altLang="en-US"/>
              <a:t>音频 + 视频 + 文本	复杂全模态输入下的联合安全风险</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p:cNvSpPr/>
          <p:nvPr userDrawn="1"/>
        </p:nvSpPr>
        <p:spPr>
          <a:xfrm>
            <a:off x="-5680" y="0"/>
            <a:ext cx="12197680" cy="906087"/>
          </a:xfrm>
          <a:prstGeom prst="rect">
            <a:avLst/>
          </a:prstGeom>
          <a:gradFill flip="none" rotWithShape="1">
            <a:gsLst>
              <a:gs pos="0">
                <a:schemeClr val="accent1"/>
              </a:gs>
              <a:gs pos="100000">
                <a:schemeClr val="bg1"/>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alpha val="70000"/>
                </a:schemeClr>
              </a:solidFill>
              <a:latin typeface="微软雅黑" panose="020B0503020204020204" pitchFamily="34" charset="-122"/>
              <a:ea typeface="微软雅黑" panose="020B0503020204020204" pitchFamily="34" charset="-122"/>
            </a:endParaRPr>
          </a:p>
        </p:txBody>
      </p:sp>
      <p:sp>
        <p:nvSpPr>
          <p:cNvPr id="8" name="矩形 7"/>
          <p:cNvSpPr/>
          <p:nvPr userDrawn="1"/>
        </p:nvSpPr>
        <p:spPr>
          <a:xfrm>
            <a:off x="-5680" y="895070"/>
            <a:ext cx="12197679" cy="5082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clrChange>
              <a:clrFrom>
                <a:srgbClr val="FFFFFF">
                  <a:alpha val="100000"/>
                </a:srgbClr>
              </a:clrFrom>
              <a:clrTo>
                <a:srgbClr val="FFFFFF">
                  <a:alpha val="100000"/>
                  <a:alpha val="0"/>
                </a:srgbClr>
              </a:clrTo>
            </a:clrChange>
          </a:blip>
          <a:stretch>
            <a:fillRect/>
          </a:stretch>
        </p:blipFill>
        <p:spPr>
          <a:xfrm>
            <a:off x="9296400" y="0"/>
            <a:ext cx="2832100" cy="863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79493A0A-3D11-482B-A135-9D73F071DBCB}"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79493A0A-3D11-482B-A135-9D73F071DBCB}"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日期占位符 4"/>
          <p:cNvSpPr>
            <a:spLocks noGrp="1"/>
          </p:cNvSpPr>
          <p:nvPr>
            <p:ph type="dt" sz="half" idx="10"/>
          </p:nvPr>
        </p:nvSpPr>
        <p:spPr/>
        <p:txBody>
          <a:bodyPr/>
          <a:lstStyle/>
          <a:p>
            <a:fld id="{79493A0A-3D11-482B-A135-9D73F071DBCB}"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9493A0A-3D11-482B-A135-9D73F071DBCB}" type="datetimeFigureOut">
              <a:rPr lang="en-US" smtClean="0"/>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日期占位符 6"/>
          <p:cNvSpPr>
            <a:spLocks noGrp="1"/>
          </p:cNvSpPr>
          <p:nvPr>
            <p:ph type="dt" sz="half" idx="10"/>
          </p:nvPr>
        </p:nvSpPr>
        <p:spPr/>
        <p:txBody>
          <a:bodyPr/>
          <a:lstStyle/>
          <a:p>
            <a:fld id="{79493A0A-3D11-482B-A135-9D73F071DBCB}" type="datetimeFigureOut">
              <a:rPr lang="en-US" smtClean="0"/>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79493A0A-3D11-482B-A135-9D73F071DBCB}" type="datetimeFigureOut">
              <a:rPr lang="en-US" smtClean="0"/>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9493A0A-3D11-482B-A135-9D73F071DBCB}"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9493A0A-3D11-482B-A135-9D73F071DBCB}"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79493A0A-3D11-482B-A135-9D73F071DBCB}"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79493A0A-3D11-482B-A135-9D73F071DBCB}"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AA5278C-4D8B-423D-8D92-FD0087A1B25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93A0A-3D11-482B-A135-9D73F071DBCB}" type="datetimeFigureOut">
              <a:rPr lang="en-US" smtClean="0"/>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A5278C-4D8B-423D-8D92-FD0087A1B25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3.xml"/><Relationship Id="rId13" Type="http://schemas.openxmlformats.org/officeDocument/2006/relationships/slideLayout" Target="../slideLayouts/slideLayout1.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1" Type="http://schemas.openxmlformats.org/officeDocument/2006/relationships/notesSlide" Target="../notesSlides/notesSlide4.xml"/><Relationship Id="rId10" Type="http://schemas.openxmlformats.org/officeDocument/2006/relationships/slideLayout" Target="../slideLayouts/slideLayout1.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1" Type="http://schemas.openxmlformats.org/officeDocument/2006/relationships/notesSlide" Target="../notesSlides/notesSlide5.xml"/><Relationship Id="rId10" Type="http://schemas.openxmlformats.org/officeDocument/2006/relationships/slideLayout" Target="../slideLayouts/slideLayout1.xml"/><Relationship Id="rId1" Type="http://schemas.openxmlformats.org/officeDocument/2006/relationships/tags" Target="../tags/tag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1" Type="http://schemas.openxmlformats.org/officeDocument/2006/relationships/notesSlide" Target="../notesSlides/notesSlide7.xml"/><Relationship Id="rId10" Type="http://schemas.openxmlformats.org/officeDocument/2006/relationships/slideLayout" Target="../slideLayouts/slideLayout1.xml"/><Relationship Id="rId1" Type="http://schemas.openxmlformats.org/officeDocument/2006/relationships/tags" Target="../tags/tag49.xml"/></Relationships>
</file>

<file path=ppt/slides/_rels/slide9.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1" Type="http://schemas.openxmlformats.org/officeDocument/2006/relationships/notesSlide" Target="../notesSlides/notesSlide8.xml"/><Relationship Id="rId10" Type="http://schemas.openxmlformats.org/officeDocument/2006/relationships/slideLayout" Target="../slideLayouts/slideLayout1.xml"/><Relationship Id="rId1" Type="http://schemas.openxmlformats.org/officeDocument/2006/relationships/tags" Target="../tags/tag58.xml"/></Relationships>
</file>

<file path=ppt/slides/_rels/slide10.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1" Type="http://schemas.openxmlformats.org/officeDocument/2006/relationships/notesSlide" Target="../notesSlides/notesSlide9.xml"/><Relationship Id="rId10" Type="http://schemas.openxmlformats.org/officeDocument/2006/relationships/slideLayout" Target="../slideLayouts/slideLayout1.xml"/><Relationship Id="rId1" Type="http://schemas.openxmlformats.org/officeDocument/2006/relationships/tags" Target="../tags/tag67.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2.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1" Type="http://schemas.openxmlformats.org/officeDocument/2006/relationships/notesSlide" Target="../notesSlides/notesSlide11.xml"/><Relationship Id="rId10" Type="http://schemas.openxmlformats.org/officeDocument/2006/relationships/slideLayout" Target="../slideLayouts/slideLayout1.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1" Type="http://schemas.openxmlformats.org/officeDocument/2006/relationships/notesSlide" Target="../notesSlides/notesSlide12.xml"/><Relationship Id="rId10" Type="http://schemas.openxmlformats.org/officeDocument/2006/relationships/slideLayout" Target="../slideLayouts/slideLayout1.xml"/><Relationship Id="rId1" Type="http://schemas.openxmlformats.org/officeDocument/2006/relationships/tags" Target="../tags/tag91.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6571282"/>
            <a:ext cx="12192000" cy="30996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812583" y="666426"/>
            <a:ext cx="7857641"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82905" y="2379345"/>
            <a:ext cx="11160760" cy="768350"/>
          </a:xfrm>
          <a:prstGeom prst="rect">
            <a:avLst/>
          </a:prstGeom>
          <a:noFill/>
        </p:spPr>
        <p:txBody>
          <a:bodyPr wrap="square">
            <a:spAutoFit/>
          </a:bodyPr>
          <a:lstStyle/>
          <a:p>
            <a:pPr algn="ctr"/>
            <a:r>
              <a:rPr lang="zh-CN" altLang="en-US" sz="4400" b="1" spc="300">
                <a:solidFill>
                  <a:schemeClr val="accent1"/>
                </a:solidFill>
                <a:effectLst/>
                <a:latin typeface="Times New Roman" panose="02020603050405020304" charset="0"/>
                <a:ea typeface="微软雅黑" panose="020B0503020204020204" pitchFamily="34" charset="-122"/>
                <a:cs typeface="Times New Roman" panose="02020603050405020304" charset="0"/>
                <a:sym typeface="+mn-ea"/>
              </a:rPr>
              <a:t>多模态大模型</a:t>
            </a:r>
            <a:r>
              <a:rPr lang="zh-CN" altLang="en-US" sz="4400" b="1" spc="300">
                <a:solidFill>
                  <a:schemeClr val="accent1"/>
                </a:solidFill>
                <a:effectLst/>
                <a:latin typeface="Times New Roman" panose="02020603050405020304" charset="0"/>
                <a:ea typeface="微软雅黑" panose="020B0503020204020204" pitchFamily="34" charset="-122"/>
                <a:cs typeface="Times New Roman" panose="02020603050405020304" charset="0"/>
                <a:sym typeface="+mn-ea"/>
              </a:rPr>
              <a:t>数据集</a:t>
            </a:r>
            <a:endParaRPr lang="zh-CN" altLang="en-US" sz="4400" b="1" spc="300">
              <a:solidFill>
                <a:schemeClr val="accent1"/>
              </a:solidFill>
              <a:effectLst/>
              <a:latin typeface="Times New Roman" panose="02020603050405020304" charset="0"/>
              <a:ea typeface="微软雅黑" panose="020B0503020204020204" pitchFamily="34"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412115" y="220345"/>
            <a:ext cx="3112770" cy="891540"/>
          </a:xfrm>
          <a:prstGeom prst="rect">
            <a:avLst/>
          </a:prstGeom>
        </p:spPr>
      </p:pic>
      <p:grpSp>
        <p:nvGrpSpPr>
          <p:cNvPr id="2" name="组合 1"/>
          <p:cNvGrpSpPr/>
          <p:nvPr/>
        </p:nvGrpSpPr>
        <p:grpSpPr>
          <a:xfrm>
            <a:off x="3102508" y="3656898"/>
            <a:ext cx="6459473" cy="368633"/>
            <a:chOff x="3334544" y="5035249"/>
            <a:chExt cx="6459473" cy="368633"/>
          </a:xfrm>
          <a:noFill/>
        </p:grpSpPr>
        <p:grpSp>
          <p:nvGrpSpPr>
            <p:cNvPr id="18" name="组合 17"/>
            <p:cNvGrpSpPr/>
            <p:nvPr/>
          </p:nvGrpSpPr>
          <p:grpSpPr>
            <a:xfrm>
              <a:off x="3334544" y="5035249"/>
              <a:ext cx="2181435" cy="368300"/>
              <a:chOff x="3334544" y="5035249"/>
              <a:chExt cx="2181435" cy="368300"/>
            </a:xfrm>
            <a:grpFill/>
          </p:grpSpPr>
          <p:sp>
            <p:nvSpPr>
              <p:cNvPr id="4" name="文本框 3"/>
              <p:cNvSpPr txBox="1"/>
              <p:nvPr/>
            </p:nvSpPr>
            <p:spPr>
              <a:xfrm>
                <a:off x="3732899" y="5035249"/>
                <a:ext cx="1783080" cy="368300"/>
              </a:xfrm>
              <a:prstGeom prst="rect">
                <a:avLst/>
              </a:prstGeom>
              <a:grpFill/>
            </p:spPr>
            <p:txBody>
              <a:bodyPr wrap="none" rtlCol="0">
                <a:spAutoFit/>
              </a:bodyPr>
              <a:lstStyle/>
              <a:p>
                <a:r>
                  <a:rPr lang="zh-CN" altLang="en-US" b="1">
                    <a:solidFill>
                      <a:schemeClr val="accent1"/>
                    </a:solidFill>
                    <a:latin typeface="微软雅黑" panose="020B0503020204020204" pitchFamily="34" charset="-122"/>
                    <a:ea typeface="微软雅黑" panose="020B0503020204020204" pitchFamily="34" charset="-122"/>
                  </a:rPr>
                  <a:t>汇报人：邹晰</a:t>
                </a:r>
                <a:r>
                  <a:rPr lang="zh-CN" altLang="en-US" b="1">
                    <a:solidFill>
                      <a:schemeClr val="accent1"/>
                    </a:solidFill>
                    <a:latin typeface="微软雅黑" panose="020B0503020204020204" pitchFamily="34" charset="-122"/>
                    <a:ea typeface="微软雅黑" panose="020B0503020204020204" pitchFamily="34" charset="-122"/>
                  </a:rPr>
                  <a:t>月</a:t>
                </a:r>
                <a:endParaRPr lang="zh-CN" altLang="en-US" b="1">
                  <a:solidFill>
                    <a:schemeClr val="accent1"/>
                  </a:solidFill>
                  <a:latin typeface="微软雅黑" panose="020B0503020204020204" pitchFamily="34" charset="-122"/>
                  <a:ea typeface="微软雅黑" panose="020B0503020204020204" pitchFamily="34" charset="-122"/>
                </a:endParaRPr>
              </a:p>
            </p:txBody>
          </p:sp>
          <p:pic>
            <p:nvPicPr>
              <p:cNvPr id="23" name="图形 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34544" y="5039915"/>
                <a:ext cx="360000" cy="360000"/>
              </a:xfrm>
              <a:prstGeom prst="rect">
                <a:avLst/>
              </a:prstGeom>
            </p:spPr>
          </p:pic>
        </p:grpSp>
        <p:grpSp>
          <p:nvGrpSpPr>
            <p:cNvPr id="19" name="组合 18"/>
            <p:cNvGrpSpPr/>
            <p:nvPr/>
          </p:nvGrpSpPr>
          <p:grpSpPr>
            <a:xfrm>
              <a:off x="6358837" y="5035249"/>
              <a:ext cx="3435180" cy="368633"/>
              <a:chOff x="6358837" y="5035249"/>
              <a:chExt cx="3435180" cy="368633"/>
            </a:xfrm>
            <a:grpFill/>
          </p:grpSpPr>
          <p:sp>
            <p:nvSpPr>
              <p:cNvPr id="20" name="文本框 19"/>
              <p:cNvSpPr txBox="1"/>
              <p:nvPr/>
            </p:nvSpPr>
            <p:spPr>
              <a:xfrm>
                <a:off x="6795547" y="5035249"/>
                <a:ext cx="2998470" cy="368300"/>
              </a:xfrm>
              <a:prstGeom prst="rect">
                <a:avLst/>
              </a:prstGeom>
              <a:grpFill/>
            </p:spPr>
            <p:txBody>
              <a:bodyPr wrap="none" rtlCol="0">
                <a:spAutoFit/>
              </a:bodyPr>
              <a:lstStyle/>
              <a:p>
                <a:r>
                  <a:rPr lang="zh-CN" altLang="en-US" b="1">
                    <a:solidFill>
                      <a:schemeClr val="accent1"/>
                    </a:solidFill>
                    <a:latin typeface="微软雅黑" panose="020B0503020204020204" pitchFamily="34" charset="-122"/>
                    <a:ea typeface="微软雅黑" panose="020B0503020204020204" pitchFamily="34" charset="-122"/>
                  </a:rPr>
                  <a:t>汇报时间：</a:t>
                </a:r>
                <a:r>
                  <a:rPr lang="en-US" altLang="zh-CN" b="1">
                    <a:solidFill>
                      <a:schemeClr val="accent1"/>
                    </a:solidFill>
                    <a:latin typeface="微软雅黑" panose="020B0503020204020204" pitchFamily="34" charset="-122"/>
                    <a:ea typeface="微软雅黑" panose="020B0503020204020204" pitchFamily="34" charset="-122"/>
                  </a:rPr>
                  <a:t>2026</a:t>
                </a:r>
                <a:r>
                  <a:rPr lang="zh-CN" altLang="en-US" b="1">
                    <a:solidFill>
                      <a:schemeClr val="accent1"/>
                    </a:solidFill>
                    <a:latin typeface="微软雅黑" panose="020B0503020204020204" pitchFamily="34" charset="-122"/>
                    <a:ea typeface="微软雅黑" panose="020B0503020204020204" pitchFamily="34" charset="-122"/>
                  </a:rPr>
                  <a:t>年</a:t>
                </a:r>
                <a:r>
                  <a:rPr lang="en-US" altLang="zh-CN" b="1">
                    <a:solidFill>
                      <a:schemeClr val="accent1"/>
                    </a:solidFill>
                    <a:latin typeface="微软雅黑" panose="020B0503020204020204" pitchFamily="34" charset="-122"/>
                    <a:ea typeface="微软雅黑" panose="020B0503020204020204" pitchFamily="34" charset="-122"/>
                  </a:rPr>
                  <a:t>7</a:t>
                </a:r>
                <a:r>
                  <a:rPr lang="zh-CN" altLang="en-US" b="1">
                    <a:solidFill>
                      <a:schemeClr val="accent1"/>
                    </a:solidFill>
                    <a:latin typeface="微软雅黑" panose="020B0503020204020204" pitchFamily="34" charset="-122"/>
                    <a:ea typeface="微软雅黑" panose="020B0503020204020204" pitchFamily="34" charset="-122"/>
                  </a:rPr>
                  <a:t>月</a:t>
                </a:r>
                <a:r>
                  <a:rPr lang="en-US" altLang="zh-CN" b="1">
                    <a:solidFill>
                      <a:schemeClr val="accent1"/>
                    </a:solidFill>
                    <a:latin typeface="微软雅黑" panose="020B0503020204020204" pitchFamily="34" charset="-122"/>
                    <a:ea typeface="微软雅黑" panose="020B0503020204020204" pitchFamily="34" charset="-122"/>
                  </a:rPr>
                  <a:t>15</a:t>
                </a:r>
                <a:r>
                  <a:rPr lang="zh-CN" altLang="en-US" b="1">
                    <a:solidFill>
                      <a:schemeClr val="accent1"/>
                    </a:solidFill>
                    <a:latin typeface="微软雅黑" panose="020B0503020204020204" pitchFamily="34" charset="-122"/>
                    <a:ea typeface="微软雅黑" panose="020B0503020204020204" pitchFamily="34" charset="-122"/>
                  </a:rPr>
                  <a:t>日</a:t>
                </a:r>
                <a:endParaRPr lang="zh-CN" altLang="en-US" b="1">
                  <a:solidFill>
                    <a:schemeClr val="accent1"/>
                  </a:solidFill>
                  <a:latin typeface="微软雅黑" panose="020B0503020204020204" pitchFamily="34" charset="-122"/>
                  <a:ea typeface="微软雅黑" panose="020B0503020204020204" pitchFamily="34" charset="-122"/>
                </a:endParaRPr>
              </a:p>
            </p:txBody>
          </p:sp>
          <p:pic>
            <p:nvPicPr>
              <p:cNvPr id="5"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58837" y="5043882"/>
                <a:ext cx="360000" cy="360000"/>
              </a:xfrm>
              <a:prstGeom prst="rect">
                <a:avLst/>
              </a:prstGeom>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6344920" cy="107632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图文类数据集</a:t>
            </a:r>
            <a:r>
              <a:rPr lang="en-US" altLang="zh-CN" sz="3200" b="1">
                <a:solidFill>
                  <a:schemeClr val="bg1"/>
                </a:solidFill>
                <a:latin typeface="微软雅黑" panose="020B0503020204020204" pitchFamily="34" charset="-122"/>
                <a:ea typeface="微软雅黑" panose="020B0503020204020204" pitchFamily="34" charset="-122"/>
              </a:rPr>
              <a:t>-</a:t>
            </a:r>
            <a:r>
              <a:rPr kumimoji="1" lang="en-US" altLang="zh-CN" sz="3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rPr>
              <a:t>MM-SafetyBench</a:t>
            </a:r>
            <a:endParaRPr kumimoji="1" lang="en-US" altLang="zh-CN" sz="3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endParaRPr>
          </a:p>
          <a:p>
            <a:pPr algn="l"/>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965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347662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MM-SafetyBench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是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ECCV 2024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提出的多模态安全评测基准，面向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MLLMs（Multimodal Large Language Models），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用于测试模型在图像参与输入时是否会绕过语言侧安全对齐。</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它包含 13 个安全风险场景、5,040 组文本—图像样本，评测了 12 个主流多模态模型的安全鲁棒性。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202989" y="1497110"/>
            <a:ext cx="180594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核心构造方式</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主要用途</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84254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867855"/>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MM-SafetyBench </a:t>
            </a:r>
            <a:r>
              <a:rPr kumimoji="1" lang="zh-CN" altLang="en-US" sz="1600">
                <a:solidFill>
                  <a:schemeClr val="bg1"/>
                </a:solidFill>
                <a:latin typeface="微软雅黑" panose="020B0503020204020204" pitchFamily="34" charset="-122"/>
                <a:ea typeface="微软雅黑" panose="020B0503020204020204" pitchFamily="34" charset="-122"/>
              </a:rPr>
              <a:t>的核心价值在于将危险请求从纯文本转移到图像语义和图像文字中，揭示多模态模型在视觉输入下可能出现的安全对齐失效问题。</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1783715"/>
          </a:xfrm>
          <a:prstGeom prst="rect">
            <a:avLst/>
          </a:prstGeom>
          <a:noFill/>
          <a:effectLst/>
        </p:spPr>
        <p:txBody>
          <a:bodyPr wrap="square">
            <a:spAutoFit/>
          </a:bodyPr>
          <a:lstStyle/>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用于评估多模态大模型面对图像化危险信息时的攻击成功率、拒绝率和跨模态安全一致性；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常作为多模态越狱攻击、防御方法和安全神经元研究的基准数据集。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387667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Text-only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：仅输入危险文本，用于</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测试语言侧安全基线</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SD</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Stable Diffusion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生成与危险查询相关的图像，</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用于测试视觉语义是否增强越狱</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OCR</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：将危险问题或关键词写入图片，用于测试图像文字/</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OCR</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通道安全性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SD+OCR</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：相关图像 + 图像文字结合，</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用于测试视觉语义与文字线索叠加后的风险</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7800" y="6537960"/>
            <a:ext cx="11857355" cy="275590"/>
          </a:xfrm>
          <a:prstGeom prst="rect">
            <a:avLst/>
          </a:prstGeom>
          <a:noFill/>
        </p:spPr>
        <p:txBody>
          <a:bodyPr wrap="square" rtlCol="0" anchor="t">
            <a:spAutoFit/>
          </a:bodyPr>
          <a:p>
            <a:r>
              <a:rPr lang="en-US" altLang="zh-CN" sz="1200">
                <a:solidFill>
                  <a:schemeClr val="bg1">
                    <a:lumMod val="50000"/>
                  </a:schemeClr>
                </a:solidFill>
              </a:rPr>
              <a:t>https://github.com/isXinLiu/MM-SafetyBench?utm_source=chatgpt.com</a:t>
            </a:r>
            <a:endParaRPr lang="en-US" altLang="zh-CN" sz="1200">
              <a:solidFill>
                <a:schemeClr val="bg1">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5872480" cy="583565"/>
          </a:xfrm>
          <a:prstGeom prst="rect">
            <a:avLst/>
          </a:prstGeom>
          <a:noFill/>
        </p:spPr>
        <p:txBody>
          <a:bodyPr wrap="none" rtlCol="0">
            <a:spAutoFit/>
          </a:bodyPr>
          <a:lstStyle/>
          <a:p>
            <a:pPr algn="l"/>
            <a:r>
              <a:rPr kumimoji="1" lang="zh-CN" altLang="en-US" sz="3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rPr>
              <a:t>图文类数据集</a:t>
            </a:r>
            <a:r>
              <a:rPr kumimoji="1" lang="en-US" altLang="zh-CN" sz="3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rPr>
              <a:t>-JailBreakV-28K</a:t>
            </a:r>
            <a:endParaRPr lang="zh-CN" altLang="en-US"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2" name="矩形: 剪去单角 1"/>
          <p:cNvSpPr/>
          <p:nvPr/>
        </p:nvSpPr>
        <p:spPr>
          <a:xfrm>
            <a:off x="1986631" y="1280874"/>
            <a:ext cx="8372215" cy="652429"/>
          </a:xfrm>
          <a:prstGeom prst="snip1Rect">
            <a:avLst/>
          </a:prstGeom>
          <a:gradFill flip="none" rotWithShape="1">
            <a:gsLst>
              <a:gs pos="100000">
                <a:schemeClr val="accent1">
                  <a:alpha val="70000"/>
                </a:schemeClr>
              </a:gs>
              <a:gs pos="0">
                <a:schemeClr val="accent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1"/>
            </p:custDataLst>
          </p:nvPr>
        </p:nvSpPr>
        <p:spPr>
          <a:xfrm>
            <a:off x="344078" y="3400517"/>
            <a:ext cx="3418025" cy="3157037"/>
          </a:xfrm>
          <a:prstGeom prst="rect">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矩形: 剪去单角 3"/>
          <p:cNvSpPr/>
          <p:nvPr>
            <p:custDataLst>
              <p:tags r:id="rId2"/>
            </p:custDataLst>
          </p:nvPr>
        </p:nvSpPr>
        <p:spPr>
          <a:xfrm>
            <a:off x="344078" y="2748089"/>
            <a:ext cx="3418025" cy="652429"/>
          </a:xfrm>
          <a:prstGeom prst="snip1Rect">
            <a:avLst/>
          </a:prstGeom>
          <a:gradFill flip="none" rotWithShape="1">
            <a:gsLst>
              <a:gs pos="100000">
                <a:schemeClr val="accent1">
                  <a:alpha val="70000"/>
                </a:schemeClr>
              </a:gs>
              <a:gs pos="0">
                <a:schemeClr val="accent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custDataLst>
              <p:tags r:id="rId3"/>
            </p:custDataLst>
          </p:nvPr>
        </p:nvSpPr>
        <p:spPr>
          <a:xfrm>
            <a:off x="8390798" y="3400517"/>
            <a:ext cx="3418025" cy="3157037"/>
          </a:xfrm>
          <a:prstGeom prst="rect">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剪去单角 5"/>
          <p:cNvSpPr/>
          <p:nvPr>
            <p:custDataLst>
              <p:tags r:id="rId4"/>
            </p:custDataLst>
          </p:nvPr>
        </p:nvSpPr>
        <p:spPr>
          <a:xfrm>
            <a:off x="8390798" y="2748089"/>
            <a:ext cx="3418025" cy="652429"/>
          </a:xfrm>
          <a:prstGeom prst="snip1Rect">
            <a:avLst/>
          </a:prstGeom>
          <a:gradFill flip="none" rotWithShape="1">
            <a:gsLst>
              <a:gs pos="100000">
                <a:schemeClr val="accent1">
                  <a:alpha val="70000"/>
                </a:schemeClr>
              </a:gs>
              <a:gs pos="0">
                <a:schemeClr val="accent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custDataLst>
              <p:tags r:id="rId5"/>
            </p:custDataLst>
          </p:nvPr>
        </p:nvSpPr>
        <p:spPr>
          <a:xfrm>
            <a:off x="4406626" y="3400517"/>
            <a:ext cx="3418025" cy="3157037"/>
          </a:xfrm>
          <a:prstGeom prst="rect">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剪去单角 7"/>
          <p:cNvSpPr/>
          <p:nvPr>
            <p:custDataLst>
              <p:tags r:id="rId6"/>
            </p:custDataLst>
          </p:nvPr>
        </p:nvSpPr>
        <p:spPr>
          <a:xfrm>
            <a:off x="4406626" y="2748089"/>
            <a:ext cx="3418025" cy="652429"/>
          </a:xfrm>
          <a:prstGeom prst="snip1Rect">
            <a:avLst/>
          </a:prstGeom>
          <a:gradFill flip="none" rotWithShape="1">
            <a:gsLst>
              <a:gs pos="100000">
                <a:schemeClr val="accent1">
                  <a:alpha val="70000"/>
                </a:schemeClr>
              </a:gs>
              <a:gs pos="0">
                <a:schemeClr val="accent1"/>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大括号 9"/>
          <p:cNvSpPr/>
          <p:nvPr/>
        </p:nvSpPr>
        <p:spPr>
          <a:xfrm rot="5400000">
            <a:off x="5727786" y="-1804645"/>
            <a:ext cx="775708" cy="8372216"/>
          </a:xfrm>
          <a:prstGeom prst="leftBrac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2" name="直接连接符 11"/>
          <p:cNvCxnSpPr/>
          <p:nvPr/>
        </p:nvCxnSpPr>
        <p:spPr>
          <a:xfrm>
            <a:off x="6115638" y="2257602"/>
            <a:ext cx="0" cy="37240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006925" y="1333364"/>
            <a:ext cx="8255726" cy="429895"/>
          </a:xfrm>
          <a:prstGeom prst="rect">
            <a:avLst/>
          </a:prstGeom>
          <a:noFill/>
        </p:spPr>
        <p:txBody>
          <a:bodyPr wrap="square">
            <a:spAutoFit/>
          </a:bodyPr>
          <a:lstStyle/>
          <a:p>
            <a:pPr algn="ctr"/>
            <a:r>
              <a:rPr kumimoji="1" lang="en-US" altLang="zh-CN" sz="2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rPr>
              <a:t>JailBreakV-28K </a:t>
            </a:r>
            <a:r>
              <a:rPr kumimoji="1" lang="zh-CN" altLang="en-US" sz="2200" b="1" dirty="0">
                <a:solidFill>
                  <a:schemeClr val="bg1"/>
                </a:solidFill>
                <a:latin typeface="微软雅黑" panose="020B0503020204020204" pitchFamily="34" charset="-122"/>
                <a:ea typeface="微软雅黑" panose="020B0503020204020204" pitchFamily="34" charset="-122"/>
                <a:cs typeface="Alibaba PuHuiTi" pitchFamily="18" charset="-122"/>
                <a:sym typeface="+mn-ea"/>
              </a:rPr>
              <a:t>数据集</a:t>
            </a:r>
            <a:endParaRPr lang="en-US" altLang="zh-CN" sz="2200" b="1">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custDataLst>
              <p:tags r:id="rId7"/>
            </p:custDataLst>
          </p:nvPr>
        </p:nvSpPr>
        <p:spPr>
          <a:xfrm>
            <a:off x="383178" y="2851583"/>
            <a:ext cx="3378926" cy="450850"/>
          </a:xfrm>
          <a:prstGeom prst="rect">
            <a:avLst/>
          </a:prstGeom>
          <a:noFill/>
        </p:spPr>
        <p:txBody>
          <a:bodyPr wrap="square">
            <a:spAutoFit/>
          </a:bodyPr>
          <a:lstStyle/>
          <a:p>
            <a:pPr algn="ctr">
              <a:lnSpc>
                <a:spcPct val="130000"/>
              </a:lnSpc>
            </a:pPr>
            <a:r>
              <a:rPr lang="en-US" altLang="zh-CN">
                <a:solidFill>
                  <a:schemeClr val="bg1"/>
                </a:solidFill>
                <a:latin typeface="微软雅黑" panose="020B0503020204020204" pitchFamily="34" charset="-122"/>
                <a:ea typeface="微软雅黑" panose="020B0503020204020204" pitchFamily="34" charset="-122"/>
              </a:rPr>
              <a:t>LLM Transfer Attack</a:t>
            </a:r>
            <a:endParaRPr lang="en-US" altLang="zh-CN">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8"/>
            </p:custDataLst>
          </p:nvPr>
        </p:nvSpPr>
        <p:spPr>
          <a:xfrm>
            <a:off x="4393475" y="2851583"/>
            <a:ext cx="3378926" cy="450850"/>
          </a:xfrm>
          <a:prstGeom prst="rect">
            <a:avLst/>
          </a:prstGeom>
          <a:noFill/>
        </p:spPr>
        <p:txBody>
          <a:bodyPr wrap="square">
            <a:spAutoFit/>
          </a:bodyPr>
          <a:lstStyle/>
          <a:p>
            <a:pPr algn="ctr">
              <a:lnSpc>
                <a:spcPct val="130000"/>
              </a:lnSpc>
            </a:pPr>
            <a:r>
              <a:rPr lang="en-US" altLang="zh-CN">
                <a:solidFill>
                  <a:schemeClr val="bg1"/>
                </a:solidFill>
                <a:latin typeface="微软雅黑" panose="020B0503020204020204" pitchFamily="34" charset="-122"/>
                <a:ea typeface="微软雅黑" panose="020B0503020204020204" pitchFamily="34" charset="-122"/>
              </a:rPr>
              <a:t>FigStep</a:t>
            </a:r>
            <a:endParaRPr lang="en-US" altLang="zh-CN">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9"/>
            </p:custDataLst>
          </p:nvPr>
        </p:nvSpPr>
        <p:spPr>
          <a:xfrm>
            <a:off x="8312332" y="2851583"/>
            <a:ext cx="3378926" cy="450850"/>
          </a:xfrm>
          <a:prstGeom prst="rect">
            <a:avLst/>
          </a:prstGeom>
          <a:noFill/>
        </p:spPr>
        <p:txBody>
          <a:bodyPr wrap="square">
            <a:spAutoFit/>
          </a:bodyPr>
          <a:lstStyle/>
          <a:p>
            <a:pPr algn="ctr">
              <a:lnSpc>
                <a:spcPct val="130000"/>
              </a:lnSpc>
            </a:pPr>
            <a:r>
              <a:rPr lang="en-US" altLang="zh-CN">
                <a:solidFill>
                  <a:schemeClr val="bg1"/>
                </a:solidFill>
                <a:latin typeface="微软雅黑" panose="020B0503020204020204" pitchFamily="34" charset="-122"/>
                <a:ea typeface="微软雅黑" panose="020B0503020204020204" pitchFamily="34" charset="-122"/>
              </a:rPr>
              <a:t>Query-related</a:t>
            </a:r>
            <a:endParaRPr lang="en-US" altLang="zh-CN">
              <a:solidFill>
                <a:schemeClr val="bg1"/>
              </a:solidFill>
              <a:latin typeface="微软雅黑" panose="020B0503020204020204" pitchFamily="34" charset="-122"/>
              <a:ea typeface="微软雅黑" panose="020B0503020204020204" pitchFamily="34" charset="-122"/>
            </a:endParaRPr>
          </a:p>
        </p:txBody>
      </p:sp>
      <p:sp>
        <p:nvSpPr>
          <p:cNvPr id="17" name="文本框 16"/>
          <p:cNvSpPr txBox="1"/>
          <p:nvPr>
            <p:custDataLst>
              <p:tags r:id="rId10"/>
            </p:custDataLst>
          </p:nvPr>
        </p:nvSpPr>
        <p:spPr>
          <a:xfrm>
            <a:off x="344442" y="3813311"/>
            <a:ext cx="3378926" cy="1768475"/>
          </a:xfrm>
          <a:prstGeom prst="rect">
            <a:avLst/>
          </a:prstGeom>
          <a:noFill/>
        </p:spPr>
        <p:txBody>
          <a:bodyPr wrap="square">
            <a:spAutoFit/>
          </a:bodyPr>
          <a:lstStyle/>
          <a:p>
            <a:pPr algn="just">
              <a:lnSpc>
                <a:spcPct val="130000"/>
              </a:lnSpc>
            </a:pPr>
            <a:r>
              <a:rPr lang="zh-CN" altLang="en-US" sz="1400">
                <a:latin typeface="微软雅黑" panose="020B0503020204020204" pitchFamily="34" charset="-122"/>
                <a:ea typeface="微软雅黑" panose="020B0503020204020204" pitchFamily="34" charset="-122"/>
              </a:rPr>
              <a:t>图片：普通图、噪声图、空白图或生成图</a:t>
            </a:r>
            <a:endParaRPr lang="zh-CN" altLang="en-US" sz="1400">
              <a:latin typeface="微软雅黑" panose="020B0503020204020204" pitchFamily="34" charset="-122"/>
              <a:ea typeface="微软雅黑" panose="020B0503020204020204" pitchFamily="34" charset="-122"/>
            </a:endParaRPr>
          </a:p>
          <a:p>
            <a:pPr algn="just">
              <a:lnSpc>
                <a:spcPct val="130000"/>
              </a:lnSpc>
            </a:pPr>
            <a:r>
              <a:rPr lang="zh-CN" altLang="en-US" sz="1400">
                <a:latin typeface="微软雅黑" panose="020B0503020204020204" pitchFamily="34" charset="-122"/>
                <a:ea typeface="微软雅黑" panose="020B0503020204020204" pitchFamily="34" charset="-122"/>
              </a:rPr>
              <a:t>文本：完整的角色扮演、模板化或说服式越狱提示</a:t>
            </a:r>
            <a:endParaRPr lang="zh-CN" altLang="en-US" sz="1400">
              <a:latin typeface="微软雅黑" panose="020B0503020204020204" pitchFamily="34" charset="-122"/>
              <a:ea typeface="微软雅黑" panose="020B0503020204020204" pitchFamily="34" charset="-122"/>
            </a:endParaRPr>
          </a:p>
          <a:p>
            <a:pPr algn="just">
              <a:lnSpc>
                <a:spcPct val="130000"/>
              </a:lnSpc>
            </a:pPr>
            <a:r>
              <a:rPr lang="zh-CN" altLang="en-US" sz="1400">
                <a:latin typeface="微软雅黑" panose="020B0503020204020204" pitchFamily="34" charset="-122"/>
                <a:ea typeface="微软雅黑" panose="020B0503020204020204" pitchFamily="34" charset="-122"/>
              </a:rPr>
              <a:t>目的：主要测试语言侧越狱能力是否会继承到多模态模型</a:t>
            </a:r>
            <a:endParaRPr lang="zh-CN" altLang="en-US" sz="1400">
              <a:latin typeface="微软雅黑" panose="020B0503020204020204" pitchFamily="34" charset="-122"/>
              <a:ea typeface="微软雅黑" panose="020B0503020204020204" pitchFamily="34" charset="-122"/>
            </a:endParaRPr>
          </a:p>
        </p:txBody>
      </p:sp>
      <p:sp>
        <p:nvSpPr>
          <p:cNvPr id="18" name="文本框 17"/>
          <p:cNvSpPr txBox="1"/>
          <p:nvPr>
            <p:custDataLst>
              <p:tags r:id="rId11"/>
            </p:custDataLst>
          </p:nvPr>
        </p:nvSpPr>
        <p:spPr>
          <a:xfrm>
            <a:off x="4406809" y="3893956"/>
            <a:ext cx="3378926" cy="1768475"/>
          </a:xfrm>
          <a:prstGeom prst="rect">
            <a:avLst/>
          </a:prstGeom>
          <a:noFill/>
        </p:spPr>
        <p:txBody>
          <a:bodyPr wrap="square">
            <a:spAutoFit/>
          </a:bodyPr>
          <a:lstStyle/>
          <a:p>
            <a:pPr algn="just">
              <a:lnSpc>
                <a:spcPct val="130000"/>
              </a:lnSpc>
            </a:pPr>
            <a:r>
              <a:rPr lang="zh-CN" altLang="en-US" sz="1400">
                <a:latin typeface="微软雅黑" panose="020B0503020204020204" pitchFamily="34" charset="-122"/>
                <a:ea typeface="微软雅黑" panose="020B0503020204020204" pitchFamily="34" charset="-122"/>
              </a:rPr>
              <a:t>图片：含危险标题、关键词或编号步骤的文字图片</a:t>
            </a:r>
            <a:endParaRPr lang="zh-CN" altLang="en-US" sz="1400">
              <a:latin typeface="微软雅黑" panose="020B0503020204020204" pitchFamily="34" charset="-122"/>
              <a:ea typeface="微软雅黑" panose="020B0503020204020204" pitchFamily="34" charset="-122"/>
            </a:endParaRPr>
          </a:p>
          <a:p>
            <a:pPr algn="just">
              <a:lnSpc>
                <a:spcPct val="130000"/>
              </a:lnSpc>
            </a:pPr>
            <a:r>
              <a:rPr lang="zh-CN" altLang="en-US" sz="1400">
                <a:latin typeface="微软雅黑" panose="020B0503020204020204" pitchFamily="34" charset="-122"/>
                <a:ea typeface="微软雅黑" panose="020B0503020204020204" pitchFamily="34" charset="-122"/>
              </a:rPr>
              <a:t>文本：要求识别、补充或执行图片中的步骤</a:t>
            </a:r>
            <a:endParaRPr lang="zh-CN" altLang="en-US" sz="1400">
              <a:latin typeface="微软雅黑" panose="020B0503020204020204" pitchFamily="34" charset="-122"/>
              <a:ea typeface="微软雅黑" panose="020B0503020204020204" pitchFamily="34" charset="-122"/>
            </a:endParaRPr>
          </a:p>
          <a:p>
            <a:pPr algn="just">
              <a:lnSpc>
                <a:spcPct val="130000"/>
              </a:lnSpc>
            </a:pPr>
            <a:r>
              <a:rPr lang="zh-CN" altLang="en-US" sz="1400">
                <a:latin typeface="微软雅黑" panose="020B0503020204020204" pitchFamily="34" charset="-122"/>
                <a:ea typeface="微软雅黑" panose="020B0503020204020204" pitchFamily="34" charset="-122"/>
              </a:rPr>
              <a:t>目的：主要测试模型对 </a:t>
            </a:r>
            <a:r>
              <a:rPr lang="en-US" altLang="zh-CN" sz="1400">
                <a:latin typeface="微软雅黑" panose="020B0503020204020204" pitchFamily="34" charset="-122"/>
                <a:ea typeface="微软雅黑" panose="020B0503020204020204" pitchFamily="34" charset="-122"/>
              </a:rPr>
              <a:t>OCR </a:t>
            </a:r>
            <a:r>
              <a:rPr lang="zh-CN" altLang="en-US" sz="1400">
                <a:latin typeface="微软雅黑" panose="020B0503020204020204" pitchFamily="34" charset="-122"/>
                <a:ea typeface="微软雅黑" panose="020B0503020204020204" pitchFamily="34" charset="-122"/>
              </a:rPr>
              <a:t>图像文字的安全过滤能力。</a:t>
            </a:r>
            <a:endParaRPr lang="zh-CN" altLang="en-US" sz="1400">
              <a:latin typeface="微软雅黑" panose="020B0503020204020204" pitchFamily="34" charset="-122"/>
              <a:ea typeface="微软雅黑" panose="020B0503020204020204" pitchFamily="34" charset="-122"/>
            </a:endParaRPr>
          </a:p>
        </p:txBody>
      </p:sp>
      <p:sp>
        <p:nvSpPr>
          <p:cNvPr id="19" name="文本框 18"/>
          <p:cNvSpPr txBox="1"/>
          <p:nvPr>
            <p:custDataLst>
              <p:tags r:id="rId12"/>
            </p:custDataLst>
          </p:nvPr>
        </p:nvSpPr>
        <p:spPr>
          <a:xfrm>
            <a:off x="8430351" y="3893956"/>
            <a:ext cx="3378926" cy="1768475"/>
          </a:xfrm>
          <a:prstGeom prst="rect">
            <a:avLst/>
          </a:prstGeom>
          <a:noFill/>
        </p:spPr>
        <p:txBody>
          <a:bodyPr wrap="square">
            <a:spAutoFit/>
          </a:bodyPr>
          <a:lstStyle/>
          <a:p>
            <a:pPr algn="ctr">
              <a:lnSpc>
                <a:spcPct val="130000"/>
              </a:lnSpc>
            </a:pPr>
            <a:r>
              <a:rPr lang="zh-CN" altLang="en-US" sz="1400">
                <a:latin typeface="微软雅黑" panose="020B0503020204020204" pitchFamily="34" charset="-122"/>
                <a:ea typeface="微软雅黑" panose="020B0503020204020204" pitchFamily="34" charset="-122"/>
              </a:rPr>
              <a:t>图片：与危险请求相关的物体、界面或场景</a:t>
            </a:r>
            <a:endParaRPr lang="zh-CN" altLang="en-US" sz="1400">
              <a:latin typeface="微软雅黑" panose="020B0503020204020204" pitchFamily="34" charset="-122"/>
              <a:ea typeface="微软雅黑" panose="020B0503020204020204" pitchFamily="34" charset="-122"/>
            </a:endParaRPr>
          </a:p>
          <a:p>
            <a:pPr algn="ctr">
              <a:lnSpc>
                <a:spcPct val="130000"/>
              </a:lnSpc>
            </a:pPr>
            <a:r>
              <a:rPr lang="zh-CN" altLang="en-US" sz="1400">
                <a:latin typeface="微软雅黑" panose="020B0503020204020204" pitchFamily="34" charset="-122"/>
                <a:ea typeface="微软雅黑" panose="020B0503020204020204" pitchFamily="34" charset="-122"/>
              </a:rPr>
              <a:t>文本：要求结合图像分析、复现或解释相关任务</a:t>
            </a:r>
            <a:endParaRPr lang="zh-CN" altLang="en-US" sz="1400">
              <a:latin typeface="微软雅黑" panose="020B0503020204020204" pitchFamily="34" charset="-122"/>
              <a:ea typeface="微软雅黑" panose="020B0503020204020204" pitchFamily="34" charset="-122"/>
            </a:endParaRPr>
          </a:p>
          <a:p>
            <a:pPr algn="ctr">
              <a:lnSpc>
                <a:spcPct val="130000"/>
              </a:lnSpc>
            </a:pPr>
            <a:r>
              <a:rPr lang="zh-CN" altLang="en-US" sz="1400">
                <a:latin typeface="微软雅黑" panose="020B0503020204020204" pitchFamily="34" charset="-122"/>
                <a:ea typeface="微软雅黑" panose="020B0503020204020204" pitchFamily="34" charset="-122"/>
              </a:rPr>
              <a:t>目的：主要</a:t>
            </a:r>
            <a:r>
              <a:rPr lang="zh-CN" altLang="en-US" sz="1400">
                <a:latin typeface="微软雅黑" panose="020B0503020204020204" pitchFamily="34" charset="-122"/>
                <a:ea typeface="微软雅黑" panose="020B0503020204020204" pitchFamily="34" charset="-122"/>
              </a:rPr>
              <a:t>测试视觉语义和图文融合层中的安全风险。</a:t>
            </a:r>
            <a:endParaRPr lang="zh-CN" altLang="en-US" sz="1400">
              <a:latin typeface="微软雅黑" panose="020B0503020204020204" pitchFamily="34" charset="-122"/>
              <a:ea typeface="微软雅黑" panose="020B0503020204020204" pitchFamily="34" charset="-122"/>
            </a:endParaRPr>
          </a:p>
        </p:txBody>
      </p:sp>
      <p:sp>
        <p:nvSpPr>
          <p:cNvPr id="20" name="文本框 19"/>
          <p:cNvSpPr txBox="1"/>
          <p:nvPr/>
        </p:nvSpPr>
        <p:spPr>
          <a:xfrm>
            <a:off x="19685" y="6557645"/>
            <a:ext cx="12110720" cy="275590"/>
          </a:xfrm>
          <a:prstGeom prst="rect">
            <a:avLst/>
          </a:prstGeom>
          <a:noFill/>
        </p:spPr>
        <p:txBody>
          <a:bodyPr wrap="square" rtlCol="0" anchor="t">
            <a:spAutoFit/>
          </a:bodyPr>
          <a:p>
            <a:r>
              <a:rPr lang="en-US" altLang="zh-CN" sz="1200">
                <a:solidFill>
                  <a:schemeClr val="bg1">
                    <a:lumMod val="50000"/>
                  </a:schemeClr>
                </a:solidFill>
              </a:rPr>
              <a:t>https://huggingface.co/datasets/JailbreakV-28K/JailBreakV-28k?utm_source=chatgpt.com</a:t>
            </a:r>
            <a:endParaRPr lang="en-US" altLang="zh-CN" sz="1200">
              <a:solidFill>
                <a:schemeClr val="bg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4549140" cy="58356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图文类数据集</a:t>
            </a:r>
            <a:r>
              <a:rPr lang="en-US" altLang="zh-CN" sz="3200" b="1">
                <a:solidFill>
                  <a:schemeClr val="bg1"/>
                </a:solidFill>
                <a:latin typeface="微软雅黑" panose="020B0503020204020204" pitchFamily="34" charset="-122"/>
                <a:ea typeface="微软雅黑" panose="020B0503020204020204" pitchFamily="34" charset="-122"/>
              </a:rPr>
              <a:t>-VLGuard</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965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275336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VLGuard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来自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ICML 2024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论文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Safety Fine-Tuning at (Almost) No Cost: A Baseline for Vision Large Language Models，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是面向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VLLMs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的安全指令微调与安全评测数据集。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它的图片存放在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zip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中，</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JSON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负责记录图像、问题、回答和安全标签的对应关系；</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核心</a:t>
            </a:r>
            <a:r>
              <a:rPr lang="zh-CN" altLang="en-US" sz="2130" b="1">
                <a:solidFill>
                  <a:schemeClr val="accent1"/>
                </a:solidFill>
                <a:latin typeface="微软雅黑" panose="020B0503020204020204" pitchFamily="34" charset="-122"/>
                <a:ea typeface="微软雅黑" panose="020B0503020204020204" pitchFamily="34" charset="-122"/>
              </a:rPr>
              <a:t>分类</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主要用途</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54917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596710"/>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VLGuard </a:t>
            </a:r>
            <a:r>
              <a:rPr kumimoji="1" lang="zh-CN" altLang="en-US" sz="1600">
                <a:solidFill>
                  <a:schemeClr val="bg1"/>
                </a:solidFill>
                <a:latin typeface="微软雅黑" panose="020B0503020204020204" pitchFamily="34" charset="-122"/>
                <a:ea typeface="微软雅黑" panose="020B0503020204020204" pitchFamily="34" charset="-122"/>
              </a:rPr>
              <a:t>的核心价值在于提供结构化的图文安全样本，使研究者能够同时评估模型的帮助性与安全性，并分析安全对齐在文本风险和视觉风险之间是否稳定迁移。</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1706880"/>
          </a:xfrm>
          <a:prstGeom prst="rect">
            <a:avLst/>
          </a:prstGeom>
          <a:noFill/>
          <a:effectLst/>
        </p:spPr>
        <p:txBody>
          <a:bodyPr wrap="square">
            <a:spAutoFit/>
          </a:bodyPr>
          <a:lstStyle/>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VLGuard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可用于视觉语言模型的安全微调、越狱鲁棒性测试、图文安全对齐评估，也适合构造“安全图像/危险图像 × 安全文本/危险文本”的对比实验。</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283019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safe_safes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：安全图像 + 安全问题，测试模型正常帮助能力；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safe_unsafes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：安全图像 + 不安全问题，测试文本危险请求下的拒绝能力；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unsafes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：不安全图像相关样本，测试图像危险语义下的安全拒绝能力</a:t>
            </a:r>
            <a:endParaRPr lang="zh-CN"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7800" y="6537960"/>
            <a:ext cx="11857355" cy="275590"/>
          </a:xfrm>
          <a:prstGeom prst="rect">
            <a:avLst/>
          </a:prstGeom>
          <a:noFill/>
        </p:spPr>
        <p:txBody>
          <a:bodyPr wrap="square" rtlCol="0" anchor="t">
            <a:spAutoFit/>
          </a:bodyPr>
          <a:p>
            <a:r>
              <a:rPr lang="en-US" altLang="zh-CN" sz="1200">
                <a:solidFill>
                  <a:schemeClr val="bg1">
                    <a:lumMod val="50000"/>
                  </a:schemeClr>
                </a:solidFill>
              </a:rPr>
              <a:t>https://huggingface.co/datasets/ys-zong/VLGuard/tree/main?utm_source=chatgpt.com</a:t>
            </a:r>
            <a:endParaRPr lang="en-US" altLang="zh-CN" sz="1200">
              <a:solidFill>
                <a:schemeClr val="bg1">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4806950" cy="58356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图文类数据集</a:t>
            </a:r>
            <a:r>
              <a:rPr lang="en-US" altLang="zh-CN" sz="3200" b="1">
                <a:solidFill>
                  <a:schemeClr val="bg1"/>
                </a:solidFill>
                <a:latin typeface="微软雅黑" panose="020B0503020204020204" pitchFamily="34" charset="-122"/>
                <a:ea typeface="微软雅黑" panose="020B0503020204020204" pitchFamily="34" charset="-122"/>
              </a:rPr>
              <a:t>-VLSBench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965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307657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VLSBench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用于解决现有多模态安全数据集中常见的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VSIL</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（视觉安全信息泄漏） 问题。即：危险信息已经在文本问题中暴露，模型即使不看图像也能拒绝。</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该数据集包含约 2.2</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K–2.4K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组图文对，每条样本由一张风险相关图像和一个表面无害、但需要结合图像才能判断风险的文本问题组成。</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核心</a:t>
            </a:r>
            <a:r>
              <a:rPr lang="zh-CN" altLang="en-US" sz="2130" b="1">
                <a:solidFill>
                  <a:schemeClr val="accent1"/>
                </a:solidFill>
                <a:latin typeface="微软雅黑" panose="020B0503020204020204" pitchFamily="34" charset="-122"/>
                <a:ea typeface="微软雅黑" panose="020B0503020204020204" pitchFamily="34" charset="-122"/>
              </a:rPr>
              <a:t>分类</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主要用途</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596710"/>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VLGuard </a:t>
            </a:r>
            <a:r>
              <a:rPr kumimoji="1" lang="zh-CN" altLang="en-US" sz="1600">
                <a:solidFill>
                  <a:schemeClr val="bg1"/>
                </a:solidFill>
                <a:latin typeface="微软雅黑" panose="020B0503020204020204" pitchFamily="34" charset="-122"/>
                <a:ea typeface="微软雅黑" panose="020B0503020204020204" pitchFamily="34" charset="-122"/>
              </a:rPr>
              <a:t>的核心价值在于提供结构化的图文安全样本，使研究者能够同时评估模型的帮助性与安全性，并分析安全对齐在文本风险和视觉风险之间是否稳定迁移。</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1706880"/>
          </a:xfrm>
          <a:prstGeom prst="rect">
            <a:avLst/>
          </a:prstGeom>
          <a:noFill/>
          <a:effectLst/>
        </p:spPr>
        <p:txBody>
          <a:bodyPr wrap="square">
            <a:spAutoFit/>
          </a:bodyPr>
          <a:lstStyle/>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VLSBench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适合用于评估多模态大模型是否依赖文本危险词进行拒绝，也可用于分析视觉编码器、图文融合层和安全对齐机制是否真正识别图像中的危险语义。</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4199890"/>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无视觉泄漏：文本问题不直接暴露危险关键词，测试模型是否真正理解图像风险；</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图文联合判断：风险语义主要来自图像，测试视觉安全对齐能力；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表面良性查询：文本看似普通，结合图像后才有风险，测试隐式视觉安全风险；</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多模型评测：覆盖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LLaVA、Qwen2-VL、Llama3.2-Vision、GPT-4o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等，比较不同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MLLM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的安全鲁棒性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7800" y="6537960"/>
            <a:ext cx="11857355" cy="275590"/>
          </a:xfrm>
          <a:prstGeom prst="rect">
            <a:avLst/>
          </a:prstGeom>
          <a:noFill/>
        </p:spPr>
        <p:txBody>
          <a:bodyPr wrap="square" rtlCol="0" anchor="t">
            <a:spAutoFit/>
          </a:bodyPr>
          <a:p>
            <a:r>
              <a:rPr lang="en-US" altLang="zh-CN" sz="1200">
                <a:solidFill>
                  <a:schemeClr val="bg1">
                    <a:lumMod val="50000"/>
                  </a:schemeClr>
                </a:solidFill>
              </a:rPr>
              <a:t>https://huggingface.co/datasets/Foreshhh/vlsbench?utm_source=chatgpt.com</a:t>
            </a:r>
            <a:endParaRPr lang="en-US" altLang="zh-CN" sz="1200">
              <a:solidFill>
                <a:schemeClr val="bg1">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4930140" cy="58356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图文类数据集</a:t>
            </a:r>
            <a:r>
              <a:rPr lang="en-US" altLang="zh-CN" sz="3200" b="1">
                <a:solidFill>
                  <a:schemeClr val="bg1"/>
                </a:solidFill>
                <a:latin typeface="微软雅黑" panose="020B0503020204020204" pitchFamily="34" charset="-122"/>
                <a:ea typeface="微软雅黑" panose="020B0503020204020204" pitchFamily="34" charset="-122"/>
              </a:rPr>
              <a:t>-SafeBench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965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nvSpPr>
        <p:spPr>
          <a:xfrm>
            <a:off x="603885" y="1953895"/>
            <a:ext cx="3367405" cy="395414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面向多模态大模型的综合安全评测基准；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完整数据集包含 23 类风险场景、2,300 组多模态危险查询；</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MiniBench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是小规模子集，适合数据展示和快速实验；</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数据覆盖文本、图像和音频模态，并提供男女两种语音版本；</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配套基于多模型协作的安全裁判协议，用于判断模型回答是否表现出具体有害行为。​</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评测方式</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94541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971995"/>
            <a:ext cx="11032183" cy="7004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a:solidFill>
                  <a:schemeClr val="bg1"/>
                </a:solidFill>
                <a:latin typeface="微软雅黑" panose="020B0503020204020204" pitchFamily="34" charset="-122"/>
                <a:ea typeface="微软雅黑" panose="020B0503020204020204" pitchFamily="34" charset="-122"/>
              </a:rPr>
              <a:t>SafeBench </a:t>
            </a:r>
            <a:r>
              <a:rPr kumimoji="1" lang="zh-CN" altLang="en-US">
                <a:solidFill>
                  <a:schemeClr val="bg1"/>
                </a:solidFill>
                <a:latin typeface="微软雅黑" panose="020B0503020204020204" pitchFamily="34" charset="-122"/>
                <a:ea typeface="微软雅黑" panose="020B0503020204020204" pitchFamily="34" charset="-122"/>
              </a:rPr>
              <a:t>从风险类别和输入模态两个维度构建安全测试：23 类风险覆盖内容安全范围，文本、图像及音频版本用于分析安全对齐是否能够跨模态稳定迁移。</a:t>
            </a:r>
            <a:endParaRPr kumimoji="1" lang="zh-CN" altLang="en-US">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nvSpPr>
        <p:spPr>
          <a:xfrm>
            <a:off x="8558973" y="1953735"/>
            <a:ext cx="3076921" cy="2814955"/>
          </a:xfrm>
          <a:prstGeom prst="rect">
            <a:avLst/>
          </a:prstGeom>
          <a:noFill/>
          <a:effectLst/>
        </p:spPr>
        <p:txBody>
          <a:bodyPr wrap="square">
            <a:spAutoFit/>
          </a:bodyPr>
          <a:lstStyle/>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同一危险语义</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 / 图像 / 女性音频 / 男性音频</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分别输入对应模态模型</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比较拒绝率与有害回答比例</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4520565" y="1953895"/>
            <a:ext cx="3195320" cy="3630930"/>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文本模态：直接以危险查询测试语言模型或作为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text-only baseline。</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图像模态：将危险信息放入图像或视觉场景中，配合简短文本指令测试视觉语言模型。</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音频模态：女性音色版本</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和男性音色版本。用于测试相同危险语义在不同说话人声音下的安全一致性。​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3190" y="6687185"/>
            <a:ext cx="6096000" cy="213995"/>
          </a:xfrm>
          <a:prstGeom prst="rect">
            <a:avLst/>
          </a:prstGeom>
          <a:noFill/>
        </p:spPr>
        <p:txBody>
          <a:bodyPr wrap="square" rtlCol="0" anchor="t">
            <a:spAutoFit/>
          </a:bodyPr>
          <a:p>
            <a:r>
              <a:rPr lang="en-US" altLang="zh-CN" sz="800">
                <a:solidFill>
                  <a:schemeClr val="bg1">
                    <a:lumMod val="50000"/>
                  </a:schemeClr>
                </a:solidFill>
              </a:rPr>
              <a:t>https://huggingface.co/datasets/Zonghao2025/safebench</a:t>
            </a:r>
            <a:endParaRPr lang="en-US" altLang="zh-CN" sz="800">
              <a:solidFill>
                <a:schemeClr val="bg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4269740" cy="58356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图文类数据集</a:t>
            </a:r>
            <a:r>
              <a:rPr lang="en-US" altLang="zh-CN" sz="3200" b="1">
                <a:solidFill>
                  <a:schemeClr val="bg1"/>
                </a:solidFill>
                <a:latin typeface="微软雅黑" panose="020B0503020204020204" pitchFamily="34" charset="-122"/>
                <a:ea typeface="微软雅黑" panose="020B0503020204020204" pitchFamily="34" charset="-122"/>
              </a:rPr>
              <a:t>-RTVLM</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965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1</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243014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数据集面向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Vision-Language Models，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目标是系统评估视觉语言模型在图文输入场景下的安全性、可靠性、隐私保护能力和公平性。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原论文将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RTVLM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定义为第一个从多个维度对当前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进行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red teaming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测试的基准数据集。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核心</a:t>
            </a:r>
            <a:r>
              <a:rPr lang="zh-CN" altLang="en-US" sz="2130" b="1">
                <a:solidFill>
                  <a:schemeClr val="accent1"/>
                </a:solidFill>
                <a:latin typeface="微软雅黑" panose="020B0503020204020204" pitchFamily="34" charset="-122"/>
                <a:ea typeface="微软雅黑" panose="020B0503020204020204" pitchFamily="34" charset="-122"/>
              </a:rPr>
              <a:t>意义</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339979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把传统文本越狱内容转化为图像形式，测试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是否会通过识别图像中的文字或语义内容而绕过文本安全机制。</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它从图文融合的真实交互场景出发，系统暴露了当前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在真实性、安全性、隐私和公平性上的对齐不足，也为后续多模态安全对齐和防御方法提供了统一评测基准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476750" y="1953895"/>
            <a:ext cx="3438525" cy="323024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数据形式：每个样本由</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image+question+respond+Reference</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RTVLM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包含 10,200 条样本，覆盖 4 个主要方面 和 12 个子任务：</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Faithfulness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真实性/忠实性、</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Privacy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隐私</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Safety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安全性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Fairness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公平性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0" y="6506210"/>
            <a:ext cx="12397105" cy="275590"/>
          </a:xfrm>
          <a:prstGeom prst="rect">
            <a:avLst/>
          </a:prstGeom>
          <a:noFill/>
        </p:spPr>
        <p:txBody>
          <a:bodyPr wrap="square" rtlCol="0" anchor="t">
            <a:spAutoFit/>
          </a:bodyPr>
          <a:p>
            <a:r>
              <a:rPr lang="en-US" altLang="zh-CN" sz="1200">
                <a:solidFill>
                  <a:schemeClr val="bg1">
                    <a:lumMod val="50000"/>
                  </a:schemeClr>
                </a:solidFill>
              </a:rPr>
              <a:t>https://huggingface.co/datasets/MMInstruction/RedTeamingVLM/blob/8b2949b51ea59e768b60cc8da3e74f066c038023/RedTeamingVLM.py?utm_source=chatgpt.com</a:t>
            </a:r>
            <a:endParaRPr lang="en-US" altLang="zh-CN" sz="1200">
              <a:solidFill>
                <a:schemeClr val="bg1">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7242810" cy="583565"/>
          </a:xfrm>
          <a:prstGeom prst="rect">
            <a:avLst/>
          </a:prstGeom>
          <a:noFill/>
        </p:spPr>
        <p:txBody>
          <a:bodyPr wrap="none" rtlCol="0">
            <a:spAutoFit/>
          </a:bodyPr>
          <a:lstStyle/>
          <a:p>
            <a:pPr algn="l"/>
            <a:r>
              <a:rPr lang="zh-CN" altLang="en-US" sz="3200" b="1">
                <a:solidFill>
                  <a:schemeClr val="bg1"/>
                </a:solidFill>
                <a:latin typeface="微软雅黑" panose="020B0503020204020204" pitchFamily="34" charset="-122"/>
                <a:ea typeface="微软雅黑" panose="020B0503020204020204" pitchFamily="34" charset="-122"/>
              </a:rPr>
              <a:t>音频类数据集</a:t>
            </a:r>
            <a:r>
              <a:rPr lang="en-US" altLang="zh-CN" sz="3200" b="1">
                <a:solidFill>
                  <a:schemeClr val="bg1"/>
                </a:solidFill>
                <a:latin typeface="微软雅黑" panose="020B0503020204020204" pitchFamily="34" charset="-122"/>
                <a:ea typeface="微软雅黑" panose="020B0503020204020204" pitchFamily="34" charset="-122"/>
              </a:rPr>
              <a:t>-Jailbreak-AudioBench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2</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387667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sym typeface="+mn-ea"/>
              </a:rPr>
              <a:t>Large Audio Language Models，LALMs（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大型音频语言模型） 的安全评测基准；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从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sym typeface="+mn-ea"/>
              </a:rPr>
              <a:t>AdvBench、MM-SafetyBench、RedTeam-2K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和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sym typeface="+mn-ea"/>
              </a:rPr>
              <a:t>SafeBench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等数据集中整理约 4,700 条危险文本请求；</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使用文本转语音生成基础音频，并通过多种声学编辑扩展为约 94,800 条音频样本；</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sym typeface="+mn-ea"/>
              </a:rPr>
              <a:t>用于评估模型面对语义攻击和音频隐蔽攻击时的拒绝能力与越狱鲁棒性。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评测方式</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94541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971995"/>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Jailbreak-AudioBench </a:t>
            </a:r>
            <a:r>
              <a:rPr kumimoji="1" lang="zh-CN" altLang="en-US" sz="1600">
                <a:solidFill>
                  <a:schemeClr val="bg1"/>
                </a:solidFill>
                <a:latin typeface="微软雅黑" panose="020B0503020204020204" pitchFamily="34" charset="-122"/>
                <a:ea typeface="微软雅黑" panose="020B0503020204020204" pitchFamily="34" charset="-122"/>
              </a:rPr>
              <a:t>从“危险语义是否直接呈现”和“音频是否经过声学隐藏”两个维度构建数据，系统覆盖显式越狱、隐式越狱及七类音频编辑攻击，可用于分析大型音频语言模型在语义理解和声学扰动下的安全脆弱性。</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3938270"/>
          </a:xfrm>
          <a:prstGeom prst="rect">
            <a:avLst/>
          </a:prstGeom>
          <a:noFill/>
          <a:effectLst/>
        </p:spPr>
        <p:txBody>
          <a:bodyPr wrap="square">
            <a:spAutoFit/>
          </a:bodyPr>
          <a:lstStyle/>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4,700条危险文本请求</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文本转语音生成基础音频</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7类音频编辑、20种具体设置</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显式越狱样本 + 隐式越狱样本</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        ↓</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评估音频大模型的攻击成功率和安全拒绝能力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3799840"/>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显式音频越狱：危险请求的语义在语音中直接表达，模型只需识别语音内容，就能判断其具有风险。</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隐式音频越狱：危险含义通过音调、情绪、重音、语速、口音、背景声等音频特征进行隐藏或弱化，文字转录可能看起来不完整或相对无害。</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七类音频编辑方式：</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Tone</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Speed</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Emphasis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intonation</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Background Noise</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Accent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Emotion</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604635"/>
            <a:ext cx="12387580" cy="275590"/>
          </a:xfrm>
          <a:prstGeom prst="rect">
            <a:avLst/>
          </a:prstGeom>
          <a:noFill/>
        </p:spPr>
        <p:txBody>
          <a:bodyPr wrap="square" rtlCol="0">
            <a:spAutoFit/>
          </a:bodyPr>
          <a:p>
            <a:r>
              <a:rPr lang="en-US" altLang="zh-CN" sz="1200">
                <a:solidFill>
                  <a:schemeClr val="bg1">
                    <a:lumMod val="50000"/>
                  </a:schemeClr>
                </a:solidFill>
              </a:rPr>
              <a:t>https://huggingface.co/datasets/researchtopic/Jailbreak-AudioBench/tree/main</a:t>
            </a:r>
            <a:endParaRPr lang="en-US" altLang="zh-CN" sz="1200">
              <a:solidFill>
                <a:schemeClr val="bg1">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5032375" cy="583565"/>
          </a:xfrm>
          <a:prstGeom prst="rect">
            <a:avLst/>
          </a:prstGeom>
          <a:noFill/>
        </p:spPr>
        <p:txBody>
          <a:bodyPr wrap="none" rtlCol="0">
            <a:spAutoFit/>
          </a:bodyPr>
          <a:lstStyle/>
          <a:p>
            <a:pPr algn="l">
              <a:buClrTx/>
              <a:buSzTx/>
              <a:buFontTx/>
            </a:pPr>
            <a:r>
              <a:rPr lang="zh-CN" altLang="en-US" sz="3200" b="1">
                <a:solidFill>
                  <a:schemeClr val="bg1"/>
                </a:solidFill>
                <a:latin typeface="微软雅黑" panose="020B0503020204020204" pitchFamily="34" charset="-122"/>
                <a:ea typeface="微软雅黑" panose="020B0503020204020204" pitchFamily="34" charset="-122"/>
              </a:rPr>
              <a:t>音频类数据集</a:t>
            </a:r>
            <a:r>
              <a:rPr lang="en-US" altLang="zh-CN" sz="3200" b="1">
                <a:solidFill>
                  <a:schemeClr val="bg1"/>
                </a:solidFill>
                <a:latin typeface="微软雅黑" panose="020B0503020204020204" pitchFamily="34" charset="-122"/>
                <a:ea typeface="微软雅黑" panose="020B0503020204020204" pitchFamily="34" charset="-122"/>
              </a:rPr>
              <a:t>-AJailBench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2</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250698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AJailBench-Base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包含1,495条对抗音频提示，覆盖10类违规内容；</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原始文本来自已有研究、真实网络越狱案例及自动生成工具；</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通过</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Google Cloud TTS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转换为语音，覆盖118种音色与英、美、澳、印4种英语口音。</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主要</a:t>
            </a:r>
            <a:r>
              <a:rPr lang="zh-CN" altLang="en-US" sz="2130" b="1">
                <a:solidFill>
                  <a:schemeClr val="accent1"/>
                </a:solidFill>
                <a:latin typeface="微软雅黑" panose="020B0503020204020204" pitchFamily="34" charset="-122"/>
                <a:ea typeface="微软雅黑" panose="020B0503020204020204" pitchFamily="34" charset="-122"/>
              </a:rPr>
              <a:t>用途</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7946" y="5732686"/>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827215"/>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AJailBench</a:t>
            </a:r>
            <a:r>
              <a:rPr kumimoji="1" lang="zh-CN" altLang="en-US" sz="1600">
                <a:solidFill>
                  <a:schemeClr val="bg1"/>
                </a:solidFill>
                <a:latin typeface="微软雅黑" panose="020B0503020204020204" pitchFamily="34" charset="-122"/>
                <a:ea typeface="微软雅黑" panose="020B0503020204020204" pitchFamily="34" charset="-122"/>
              </a:rPr>
              <a:t>不仅把文本越狱提示转换成语音，还利用音频特有的时域、频域和噪声扰动构造对抗样本，可系统揭示音频编码与语言安全对齐之间的薄弱环节。</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1383665"/>
          </a:xfrm>
          <a:prstGeom prst="rect">
            <a:avLst/>
          </a:prstGeom>
          <a:noFill/>
          <a:effectLst/>
        </p:spPr>
        <p:txBody>
          <a:bodyPr wrap="square">
            <a:spAutoFit/>
          </a:bodyPr>
          <a:lstStyle/>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用于测量大型音频语言模型的攻击成功率、拒绝率和跨模态安全一致性，并验证音频扰动攻击及防御方法的有效性。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323024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AJailBench-Base</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：未扰动的越狱语音，用于测试基础音频安全能力。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AJailBench-APT+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：经过优化扰动的对抗语音，用于测试更强、更隐蔽的音频攻击。</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风险分类：3个核心安全方面、10个违规子类别</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扰动方法：时域、频域、混合型3类，共7种音频扰动。</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604635"/>
            <a:ext cx="12387580" cy="275590"/>
          </a:xfrm>
          <a:prstGeom prst="rect">
            <a:avLst/>
          </a:prstGeom>
          <a:noFill/>
        </p:spPr>
        <p:txBody>
          <a:bodyPr wrap="square" rtlCol="0">
            <a:spAutoFit/>
          </a:bodyPr>
          <a:p>
            <a:r>
              <a:rPr lang="en-US" altLang="zh-CN" sz="1200">
                <a:solidFill>
                  <a:schemeClr val="bg1">
                    <a:lumMod val="50000"/>
                  </a:schemeClr>
                </a:solidFill>
              </a:rPr>
              <a:t>Audio Jailbreak: An Open Comprehensive Benchmark for Jailbreaking Large Audio-Language Models</a:t>
            </a:r>
            <a:endParaRPr lang="en-US" altLang="zh-CN" sz="1200">
              <a:solidFill>
                <a:schemeClr val="bg1">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5173345" cy="583565"/>
          </a:xfrm>
          <a:prstGeom prst="rect">
            <a:avLst/>
          </a:prstGeom>
          <a:noFill/>
        </p:spPr>
        <p:txBody>
          <a:bodyPr wrap="none" rtlCol="0">
            <a:spAutoFit/>
          </a:bodyPr>
          <a:lstStyle/>
          <a:p>
            <a:pPr algn="l">
              <a:buClrTx/>
              <a:buSzTx/>
              <a:buFontTx/>
            </a:pPr>
            <a:r>
              <a:rPr lang="zh-CN" altLang="en-US" sz="3200" b="1">
                <a:solidFill>
                  <a:schemeClr val="bg1"/>
                </a:solidFill>
                <a:latin typeface="微软雅黑" panose="020B0503020204020204" pitchFamily="34" charset="-122"/>
                <a:ea typeface="微软雅黑" panose="020B0503020204020204" pitchFamily="34" charset="-122"/>
              </a:rPr>
              <a:t>音频类数据集</a:t>
            </a:r>
            <a:r>
              <a:rPr lang="en-US" altLang="zh-CN" sz="3200" b="1">
                <a:solidFill>
                  <a:schemeClr val="bg1"/>
                </a:solidFill>
                <a:latin typeface="微软雅黑" panose="020B0503020204020204" pitchFamily="34" charset="-122"/>
                <a:ea typeface="微软雅黑" panose="020B0503020204020204" pitchFamily="34" charset="-122"/>
              </a:rPr>
              <a:t>-JALMBench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2</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283019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JALMBench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是面向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Audio Language Models（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音频语言模型） 的越狱安全评测基准</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用于评估模型面对音频输入时是否仍能保持安全拒绝能力。</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包含 11,316 条文本提示、245,355 条音频样本，音频总时长超过 1,000 小时。</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主要</a:t>
            </a:r>
            <a:r>
              <a:rPr lang="zh-CN" altLang="en-US" sz="2130" b="1">
                <a:solidFill>
                  <a:schemeClr val="accent1"/>
                </a:solidFill>
                <a:latin typeface="微软雅黑" panose="020B0503020204020204" pitchFamily="34" charset="-122"/>
                <a:ea typeface="微软雅黑" panose="020B0503020204020204" pitchFamily="34" charset="-122"/>
              </a:rPr>
              <a:t>用途</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7946" y="575491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8941" y="5781495"/>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JALMBench </a:t>
            </a:r>
            <a:r>
              <a:rPr kumimoji="1" lang="zh-CN" altLang="en-US" sz="1600">
                <a:solidFill>
                  <a:schemeClr val="bg1"/>
                </a:solidFill>
                <a:latin typeface="微软雅黑" panose="020B0503020204020204" pitchFamily="34" charset="-122"/>
                <a:ea typeface="微软雅黑" panose="020B0503020204020204" pitchFamily="34" charset="-122"/>
              </a:rPr>
              <a:t>从文本语义、声音多样性和音频攻击三个维度构建音频安全评测体系，是研究音频语言模型越狱攻击、跨模态安全对齐和音频防御机制的重要公开基准。</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376285" y="1953895"/>
            <a:ext cx="3260090" cy="363093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评估音频语言模型的越狱攻击成功率；</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比较不同模型在音频安全任务上的鲁棒性；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分析语言、性别、口音、</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TTS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方法对安全拒绝的影响；</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验证文本安全对齐是否能迁移到音频模态；</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测试音频扰动攻击和防御方法的有效性。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3799840"/>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三类数据：</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Harmful Query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（有害文本问题及其语音版本）、</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Diverse Audio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（多语言、不同性别、口音和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TTS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生成的音频）、</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Attack Audio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（文本迁移攻击和音频原生攻击生成的对抗音频）</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八类攻击</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方法：4 类文本迁移攻击：将传统文本越狱提示转成音频输入；4 类音频原生攻击：直接利用音频特征、扰动或声学变化构造攻击。</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604635"/>
            <a:ext cx="12387580" cy="275590"/>
          </a:xfrm>
          <a:prstGeom prst="rect">
            <a:avLst/>
          </a:prstGeom>
          <a:noFill/>
        </p:spPr>
        <p:txBody>
          <a:bodyPr wrap="square" rtlCol="0">
            <a:spAutoFit/>
          </a:bodyPr>
          <a:p>
            <a:r>
              <a:rPr lang="en-US" altLang="zh-CN" sz="1200">
                <a:solidFill>
                  <a:schemeClr val="bg1">
                    <a:lumMod val="50000"/>
                  </a:schemeClr>
                </a:solidFill>
              </a:rPr>
              <a:t>https://huggingface.co/datasets/AnonymousUser000/JALMBench</a:t>
            </a:r>
            <a:endParaRPr lang="en-US" altLang="zh-CN" sz="1200">
              <a:solidFill>
                <a:schemeClr val="bg1">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6894830" cy="583565"/>
          </a:xfrm>
          <a:prstGeom prst="rect">
            <a:avLst/>
          </a:prstGeom>
          <a:noFill/>
        </p:spPr>
        <p:txBody>
          <a:bodyPr wrap="none" rtlCol="0">
            <a:spAutoFit/>
          </a:bodyPr>
          <a:lstStyle/>
          <a:p>
            <a:pPr algn="l">
              <a:buClrTx/>
              <a:buSzTx/>
              <a:buFontTx/>
            </a:pPr>
            <a:r>
              <a:rPr lang="zh-CN" altLang="en-US" sz="3200" b="1">
                <a:solidFill>
                  <a:schemeClr val="bg1"/>
                </a:solidFill>
                <a:latin typeface="微软雅黑" panose="020B0503020204020204" pitchFamily="34" charset="-122"/>
                <a:ea typeface="微软雅黑" panose="020B0503020204020204" pitchFamily="34" charset="-122"/>
              </a:rPr>
              <a:t>音频</a:t>
            </a:r>
            <a:r>
              <a:rPr lang="zh-CN" altLang="en-US" sz="3200" b="1">
                <a:solidFill>
                  <a:schemeClr val="bg1"/>
                </a:solidFill>
                <a:latin typeface="微软雅黑" panose="020B0503020204020204" pitchFamily="34" charset="-122"/>
                <a:ea typeface="微软雅黑" panose="020B0503020204020204" pitchFamily="34" charset="-122"/>
              </a:rPr>
              <a:t>视频类数据集</a:t>
            </a:r>
            <a:r>
              <a:rPr lang="en-US" altLang="zh-CN" sz="3200" b="1">
                <a:solidFill>
                  <a:schemeClr val="bg1"/>
                </a:solidFill>
                <a:latin typeface="微软雅黑" panose="020B0503020204020204" pitchFamily="34" charset="-122"/>
                <a:ea typeface="微软雅黑" panose="020B0503020204020204" pitchFamily="34" charset="-122"/>
              </a:rPr>
              <a:t>-VA-SafetyBench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2</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156202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7235170"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3"/>
            </p:custDataLst>
          </p:nvPr>
        </p:nvSpPr>
        <p:spPr>
          <a:xfrm>
            <a:off x="260291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4"/>
            </p:custDataLst>
          </p:nvPr>
        </p:nvSpPr>
        <p:spPr>
          <a:xfrm>
            <a:off x="1626235" y="1953895"/>
            <a:ext cx="3367405" cy="315341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它扩展自图像安全基准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MM-SafetyBench，</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将其中的安全测试样本转换为 视频—文本 和 音频—文本 输入，用于评估视频/音频模态给多模态大模型带来的安全风险。</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8</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类安全场景：</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indent="457200">
              <a:lnSpc>
                <a:spcPct val="150000"/>
              </a:lnSpc>
              <a:spcAft>
                <a:spcPts val="600"/>
              </a:spcAft>
              <a:buFont typeface="Arial" panose="020B0604020202020204" pitchFamily="34" charset="0"/>
              <a:buNone/>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非法活动、仇恨言论、恶意软件生成、人身伤害、经济伤害、欺诈、性暴力</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和隐私侵犯</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5"/>
            </p:custDataLst>
          </p:nvPr>
        </p:nvSpPr>
        <p:spPr>
          <a:xfrm>
            <a:off x="8307504"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56187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8306" y="5608775"/>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VA-SafetyBench </a:t>
            </a:r>
            <a:r>
              <a:rPr kumimoji="1" lang="zh-CN" altLang="en-US" sz="1600">
                <a:solidFill>
                  <a:schemeClr val="bg1"/>
                </a:solidFill>
                <a:latin typeface="微软雅黑" panose="020B0503020204020204" pitchFamily="34" charset="-122"/>
                <a:ea typeface="微软雅黑" panose="020B0503020204020204" pitchFamily="34" charset="-122"/>
              </a:rPr>
              <a:t>通过“同一有害语义 → 视频/音频模态转换”的方式，系统评估多模态大模型在视频文字、视频场景、语音关键词和噪声隐藏条件下的安全鲁棒性。</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6"/>
            </p:custDataLst>
          </p:nvPr>
        </p:nvSpPr>
        <p:spPr>
          <a:xfrm>
            <a:off x="7354570" y="1953895"/>
            <a:ext cx="3195320" cy="186118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4</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类视频样本：</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Text-only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DM</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TYPO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DM+TYPO</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4</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类音频样本：</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Text-only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Audio-only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KPT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KPT+Noise</a:t>
            </a: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en-US" altLang="zh-CN"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604635"/>
            <a:ext cx="12387580" cy="275590"/>
          </a:xfrm>
          <a:prstGeom prst="rect">
            <a:avLst/>
          </a:prstGeom>
          <a:noFill/>
        </p:spPr>
        <p:txBody>
          <a:bodyPr wrap="square" rtlCol="0">
            <a:spAutoFit/>
          </a:bodyPr>
          <a:p>
            <a:r>
              <a:rPr lang="en-US" altLang="zh-CN" sz="1200">
                <a:solidFill>
                  <a:schemeClr val="bg1">
                    <a:lumMod val="50000"/>
                  </a:schemeClr>
                </a:solidFill>
              </a:rPr>
              <a:t>SEA: Low-Resource Safety Alignment for Multimodal Large Language Models via Synthetic Embeddings</a:t>
            </a:r>
            <a:endParaRPr lang="en-US" altLang="zh-CN" sz="1200">
              <a:solidFill>
                <a:schemeClr val="bg1">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6694170" cy="583565"/>
          </a:xfrm>
          <a:prstGeom prst="rect">
            <a:avLst/>
          </a:prstGeom>
          <a:noFill/>
        </p:spPr>
        <p:txBody>
          <a:bodyPr wrap="none" rtlCol="0">
            <a:spAutoFit/>
          </a:bodyPr>
          <a:lstStyle/>
          <a:p>
            <a:pPr algn="l">
              <a:buClrTx/>
              <a:buSzTx/>
              <a:buFontTx/>
            </a:pPr>
            <a:r>
              <a:rPr lang="zh-CN" altLang="en-US" sz="3200" b="1">
                <a:solidFill>
                  <a:schemeClr val="bg1"/>
                </a:solidFill>
                <a:latin typeface="微软雅黑" panose="020B0503020204020204" pitchFamily="34" charset="-122"/>
                <a:ea typeface="微软雅黑" panose="020B0503020204020204" pitchFamily="34" charset="-122"/>
              </a:rPr>
              <a:t>视频类数据集</a:t>
            </a:r>
            <a:r>
              <a:rPr lang="en-US" altLang="zh-CN" sz="3200" b="1">
                <a:solidFill>
                  <a:schemeClr val="bg1"/>
                </a:solidFill>
                <a:latin typeface="微软雅黑" panose="020B0503020204020204" pitchFamily="34" charset="-122"/>
                <a:ea typeface="微软雅黑" panose="020B0503020204020204" pitchFamily="34" charset="-122"/>
              </a:rPr>
              <a:t>-Video-SafetyBench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3</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315341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Video-SafetyBench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用于评估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Video LVLMs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在视频输入下的安全鲁棒性。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数据集包含 2,264 个视频—文本对，覆盖 13 个一级风险类别、48 个细粒度子类别。</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每个样本由一个合成视频和一个文本查询组成，查询分为显式有害问题与表面良性问题两种形式。</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446968" y="149744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风险类别</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80444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851980"/>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JVideo-SafetyBench </a:t>
            </a:r>
            <a:r>
              <a:rPr kumimoji="1" lang="zh-CN" altLang="en-US" sz="1600">
                <a:solidFill>
                  <a:schemeClr val="bg1"/>
                </a:solidFill>
                <a:latin typeface="微软雅黑" panose="020B0503020204020204" pitchFamily="34" charset="-122"/>
                <a:ea typeface="微软雅黑" panose="020B0503020204020204" pitchFamily="34" charset="-122"/>
              </a:rPr>
              <a:t>通过“视频语义生成 + 显式/隐式查询配对”的方式，专门测试视频大模型在动态场景、动作过程和上下文诱导下的安全脆弱性。</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2030095"/>
          </a:xfrm>
          <a:prstGeom prst="rect">
            <a:avLst/>
          </a:prstGeom>
          <a:noFill/>
          <a:effectLst/>
        </p:spPr>
        <p:txBody>
          <a:bodyPr wrap="square">
            <a:spAutoFit/>
          </a:bodyPr>
          <a:lstStyle/>
          <a:p>
            <a:pPr>
              <a:lnSpc>
                <a:spcPct val="150000"/>
              </a:lnSpc>
              <a:spcAft>
                <a:spcPts val="600"/>
              </a:spcAft>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数据集覆盖 13 个一级不安全类别和 48 个细粒度子类，涉及违法行为、身体伤害、欺骗、隐私、仇恨/歧视等视频场景风险。其重点不是普通视频理解，而是评估视频动态语义是否会触发模型越狱。</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412305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视频生成：作者将视频语义拆成两部分：</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Subject Image</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（视频中出现什么）和</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Motion Text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（主体如何运动），再用二者共同引导生成与安全风险相关的视频，从而构造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query-relevant video，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即与危险查询语义相关的视频。</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两类查询形式：</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Harmful Query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（文本问题本身包含明确危险意图）和</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Benign Query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（文本表面无害，但结合视频后会诱导危险回答）</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604635"/>
            <a:ext cx="12387580" cy="275590"/>
          </a:xfrm>
          <a:prstGeom prst="rect">
            <a:avLst/>
          </a:prstGeom>
          <a:noFill/>
        </p:spPr>
        <p:txBody>
          <a:bodyPr wrap="square" rtlCol="0">
            <a:spAutoFit/>
          </a:bodyPr>
          <a:p>
            <a:r>
              <a:rPr lang="en-US" altLang="zh-CN" sz="1200">
                <a:solidFill>
                  <a:schemeClr val="bg1">
                    <a:lumMod val="50000"/>
                  </a:schemeClr>
                </a:solidFill>
              </a:rPr>
              <a:t>https://huggingface.co/datasets/BAAI/Video-SafetyBench?utm_source=chatgpt.com</a:t>
            </a:r>
            <a:endParaRPr lang="en-US" altLang="zh-CN" sz="1200">
              <a:solidFill>
                <a:schemeClr val="bg1">
                  <a:lumMod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102934" y="151979"/>
            <a:ext cx="6624320" cy="583565"/>
          </a:xfrm>
          <a:prstGeom prst="rect">
            <a:avLst/>
          </a:prstGeom>
          <a:noFill/>
        </p:spPr>
        <p:txBody>
          <a:bodyPr wrap="none" rtlCol="0">
            <a:spAutoFit/>
          </a:bodyPr>
          <a:lstStyle/>
          <a:p>
            <a:pPr algn="l">
              <a:buClrTx/>
              <a:buSzTx/>
              <a:buFontTx/>
            </a:pPr>
            <a:r>
              <a:rPr lang="zh-CN" altLang="en-US" sz="3200" b="1">
                <a:solidFill>
                  <a:schemeClr val="bg1"/>
                </a:solidFill>
                <a:latin typeface="微软雅黑" panose="020B0503020204020204" pitchFamily="34" charset="-122"/>
                <a:ea typeface="微软雅黑" panose="020B0503020204020204" pitchFamily="34" charset="-122"/>
              </a:rPr>
              <a:t>视频类数据集</a:t>
            </a:r>
            <a:r>
              <a:rPr lang="en-US" altLang="zh-CN" sz="3200" b="1">
                <a:solidFill>
                  <a:schemeClr val="bg1"/>
                </a:solidFill>
                <a:latin typeface="微软雅黑" panose="020B0503020204020204" pitchFamily="34" charset="-122"/>
                <a:ea typeface="微软雅黑" panose="020B0503020204020204" pitchFamily="34" charset="-122"/>
              </a:rPr>
              <a:t>-Omni-SafetyBench</a:t>
            </a:r>
            <a:endParaRPr lang="en-US" altLang="zh-CN" sz="3200" b="1">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344078" y="151977"/>
            <a:ext cx="584462" cy="58446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a:solidFill>
                  <a:schemeClr val="accent1"/>
                </a:solidFill>
                <a:latin typeface="微软雅黑" panose="020B0503020204020204" pitchFamily="34" charset="-122"/>
                <a:ea typeface="微软雅黑" panose="020B0503020204020204" pitchFamily="34" charset="-122"/>
              </a:rPr>
              <a:t>3</a:t>
            </a:r>
            <a:endParaRPr lang="zh-CN" altLang="en-US" sz="3200" b="1">
              <a:solidFill>
                <a:schemeClr val="accent1"/>
              </a:solidFill>
              <a:latin typeface="微软雅黑" panose="020B0503020204020204" pitchFamily="34" charset="-122"/>
              <a:ea typeface="微软雅黑" panose="020B0503020204020204" pitchFamily="34" charset="-122"/>
            </a:endParaRPr>
          </a:p>
        </p:txBody>
      </p:sp>
      <p:sp>
        <p:nvSpPr>
          <p:cNvPr id="31" name="矩形: 圆角 30"/>
          <p:cNvSpPr/>
          <p:nvPr>
            <p:custDataLst>
              <p:tags r:id="rId1"/>
            </p:custDataLst>
          </p:nvPr>
        </p:nvSpPr>
        <p:spPr>
          <a:xfrm>
            <a:off x="539679"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2" name="矩形: 圆角 31"/>
          <p:cNvSpPr/>
          <p:nvPr>
            <p:custDataLst>
              <p:tags r:id="rId2"/>
            </p:custDataLst>
          </p:nvPr>
        </p:nvSpPr>
        <p:spPr>
          <a:xfrm>
            <a:off x="4401165"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3" name="矩形: 圆角 32"/>
          <p:cNvSpPr/>
          <p:nvPr>
            <p:custDataLst>
              <p:tags r:id="rId3"/>
            </p:custDataLst>
          </p:nvPr>
        </p:nvSpPr>
        <p:spPr>
          <a:xfrm>
            <a:off x="8240617" y="1329598"/>
            <a:ext cx="3513924" cy="3433097"/>
          </a:xfrm>
          <a:prstGeom prst="roundRect">
            <a:avLst>
              <a:gd name="adj" fmla="val 5283"/>
            </a:avLst>
          </a:prstGeom>
          <a:gradFill flip="none" rotWithShape="1">
            <a:gsLst>
              <a:gs pos="100000">
                <a:schemeClr val="accent2">
                  <a:lumMod val="20000"/>
                  <a:lumOff val="80000"/>
                  <a:alpha val="0"/>
                </a:schemeClr>
              </a:gs>
              <a:gs pos="0">
                <a:schemeClr val="bg1">
                  <a:lumMod val="95000"/>
                </a:schemeClr>
              </a:gs>
            </a:gsLst>
            <a:lin ang="5400000" scaled="1"/>
            <a:tileRect/>
          </a:gradFill>
          <a:ln w="25400">
            <a:gradFill>
              <a:gsLst>
                <a:gs pos="0">
                  <a:schemeClr val="accent1"/>
                </a:gs>
                <a:gs pos="100000">
                  <a:schemeClr val="bg1"/>
                </a:gs>
              </a:gsLst>
              <a:lin ang="5400000" scaled="1"/>
            </a:gradFill>
          </a:ln>
          <a:effectLst>
            <a:outerShdw blurRad="381000" dist="38100" dir="16200000" rotWithShape="0">
              <a:srgbClr val="A6B3C6">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195">
              <a:latin typeface="微软雅黑" panose="020B0503020204020204" pitchFamily="34" charset="-122"/>
              <a:ea typeface="微软雅黑" panose="020B0503020204020204" pitchFamily="34" charset="-122"/>
            </a:endParaRPr>
          </a:p>
        </p:txBody>
      </p:sp>
      <p:sp>
        <p:nvSpPr>
          <p:cNvPr id="34" name="文本框 33"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4"/>
            </p:custDataLst>
          </p:nvPr>
        </p:nvSpPr>
        <p:spPr>
          <a:xfrm>
            <a:off x="1580567" y="1497414"/>
            <a:ext cx="153543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数据集概况</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5" name="矩形 34"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5"/>
            </p:custDataLst>
          </p:nvPr>
        </p:nvSpPr>
        <p:spPr>
          <a:xfrm>
            <a:off x="603885" y="1953895"/>
            <a:ext cx="3367405" cy="2753360"/>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Omni-SafetyBench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面向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Omni-modal Large Language Models，OLLMs（</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全模态大模型） 的安全评测，支持文本、图像、视频、音频及其组合输入。</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数据集基于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MM-SafetyBench </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的 972 条种子样本扩展而来，构造平行跨模态测试样本。</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6"/>
            </p:custDataLst>
          </p:nvPr>
        </p:nvSpPr>
        <p:spPr>
          <a:xfrm>
            <a:off x="5473499" y="1497110"/>
            <a:ext cx="126492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数据结构</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7" name="文本框 36"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txBox="1"/>
          <p:nvPr>
            <p:custDataLst>
              <p:tags r:id="rId7"/>
            </p:custDataLst>
          </p:nvPr>
        </p:nvSpPr>
        <p:spPr>
          <a:xfrm>
            <a:off x="9176458" y="1497440"/>
            <a:ext cx="1805940" cy="419100"/>
          </a:xfrm>
          <a:prstGeom prst="rect">
            <a:avLst/>
          </a:prstGeom>
          <a:noFill/>
        </p:spPr>
        <p:txBody>
          <a:bodyPr wrap="none" rtlCol="0">
            <a:spAutoFit/>
          </a:bodyPr>
          <a:lstStyle/>
          <a:p>
            <a:pPr algn="ctr" defTabSz="608330">
              <a:defRPr/>
            </a:pPr>
            <a:r>
              <a:rPr lang="zh-CN" altLang="en-US" sz="2130" b="1">
                <a:solidFill>
                  <a:schemeClr val="accent1"/>
                </a:solidFill>
                <a:latin typeface="微软雅黑" panose="020B0503020204020204" pitchFamily="34" charset="-122"/>
                <a:ea typeface="微软雅黑" panose="020B0503020204020204" pitchFamily="34" charset="-122"/>
              </a:rPr>
              <a:t>核心评测目标</a:t>
            </a:r>
            <a:endParaRPr lang="zh-CN" altLang="en-US" sz="2130" b="1">
              <a:solidFill>
                <a:schemeClr val="accent1"/>
              </a:solidFill>
              <a:latin typeface="微软雅黑" panose="020B0503020204020204" pitchFamily="34" charset="-122"/>
              <a:ea typeface="微软雅黑" panose="020B0503020204020204" pitchFamily="34" charset="-122"/>
            </a:endParaRPr>
          </a:p>
        </p:txBody>
      </p:sp>
      <p:sp>
        <p:nvSpPr>
          <p:cNvPr id="38" name="矩形: 剪去单角 37"/>
          <p:cNvSpPr/>
          <p:nvPr/>
        </p:nvSpPr>
        <p:spPr>
          <a:xfrm>
            <a:off x="398581" y="5804441"/>
            <a:ext cx="11459005" cy="726979"/>
          </a:xfrm>
          <a:prstGeom prst="snip1Rect">
            <a:avLst>
              <a:gd name="adj" fmla="val 36459"/>
            </a:avLst>
          </a:prstGeom>
          <a:gradFill>
            <a:gsLst>
              <a:gs pos="100000">
                <a:schemeClr val="accent1"/>
              </a:gs>
              <a:gs pos="0">
                <a:srgbClr val="003F88">
                  <a:alpha val="7300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24"/>
          <p:cNvSpPr txBox="1"/>
          <p:nvPr/>
        </p:nvSpPr>
        <p:spPr>
          <a:xfrm>
            <a:off x="539576" y="5851980"/>
            <a:ext cx="11032183" cy="63246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buSzPct val="80000"/>
            </a:pPr>
            <a:r>
              <a:rPr kumimoji="1" lang="en-US" altLang="zh-CN" sz="1600">
                <a:solidFill>
                  <a:schemeClr val="bg1"/>
                </a:solidFill>
                <a:latin typeface="微软雅黑" panose="020B0503020204020204" pitchFamily="34" charset="-122"/>
                <a:ea typeface="微软雅黑" panose="020B0503020204020204" pitchFamily="34" charset="-122"/>
              </a:rPr>
              <a:t>Omni-SafetyBench </a:t>
            </a:r>
            <a:r>
              <a:rPr kumimoji="1" lang="zh-CN" altLang="en-US" sz="1600">
                <a:solidFill>
                  <a:schemeClr val="bg1"/>
                </a:solidFill>
                <a:latin typeface="微软雅黑" panose="020B0503020204020204" pitchFamily="34" charset="-122"/>
                <a:ea typeface="微软雅黑" panose="020B0503020204020204" pitchFamily="34" charset="-122"/>
              </a:rPr>
              <a:t>的核心价值在于“平行跨模态设计”：同一安全风险被转换为多种模态组合，从而评估全模态大模型的安全对齐是否能在文本、图像、视频和音频之间稳定迁移。</a:t>
            </a:r>
            <a:endParaRPr kumimoji="1" lang="zh-CN" altLang="en-US" sz="1600">
              <a:solidFill>
                <a:schemeClr val="bg1"/>
              </a:solidFill>
              <a:latin typeface="微软雅黑" panose="020B0503020204020204" pitchFamily="34" charset="-122"/>
              <a:ea typeface="微软雅黑" panose="020B0503020204020204" pitchFamily="34" charset="-122"/>
            </a:endParaRPr>
          </a:p>
        </p:txBody>
      </p:sp>
      <p:sp>
        <p:nvSpPr>
          <p:cNvPr id="46" name="矩形 45" descr="e7d195523061f1c09e9d68d7cf438b91ef959ecb14fc25d26BBA7F7DBC18E55DFF4014AF651F0BF2569D4B6C1DA7F1A4683A481403BD872FC687266AD13265C1DE7C373772FD8728ABDD69ADD03BFF5BE2862BC891DBB79E89FCA29C5311721A4758D3145F286BA99615F6E80999DB22C7506367009D3C00C86EB8F0B8CFE3EE2A8308D8D7F79BE5BA0C520E2C908CCE"/>
          <p:cNvSpPr/>
          <p:nvPr>
            <p:custDataLst>
              <p:tags r:id="rId8"/>
            </p:custDataLst>
          </p:nvPr>
        </p:nvSpPr>
        <p:spPr>
          <a:xfrm>
            <a:off x="8558973" y="1953735"/>
            <a:ext cx="3076921" cy="3230245"/>
          </a:xfrm>
          <a:prstGeom prst="rect">
            <a:avLst/>
          </a:prstGeom>
          <a:noFill/>
          <a:effectLst/>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评估不同模态输入下的攻击成功率与拒绝率；</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比较同一危险语义在文本、图像、视频、音频中的安全一致性；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重点考察 </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Cross-modal Safety Consistency，</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跨模态安全一致性；</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分析音视频联合输入是否比单一模态更容易触发越狱。</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9"/>
            </p:custDataLst>
          </p:nvPr>
        </p:nvSpPr>
        <p:spPr>
          <a:xfrm>
            <a:off x="4520565" y="1953895"/>
            <a:ext cx="3195320" cy="3076575"/>
          </a:xfrm>
          <a:prstGeom prst="rect">
            <a:avLst/>
          </a:prstGeom>
          <a:noFill/>
        </p:spPr>
        <p:txBody>
          <a:bodyPr wrap="square">
            <a:spAutoFit/>
          </a:bodyPr>
          <a:lstStyle/>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数据集包含 24 种模态组合与变体，每种组合约 972 条样本，用于评估同一有害语义在不同模态表达下是否会导致安全表现变化。</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主要模态形式：</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Text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（纯文本危险请求）、</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Image</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（图文）、</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Video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（视频</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文字）、</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Audio</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（音频</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文本）、</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Audio-Visual</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（音频</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视频</a:t>
            </a:r>
            <a:r>
              <a:rPr lang="en-US" altLang="zh-CN" sz="1400">
                <a:solidFill>
                  <a:schemeClr val="tx1">
                    <a:lumMod val="50000"/>
                    <a:lumOff val="50000"/>
                  </a:schemeClr>
                </a:solidFill>
                <a:latin typeface="微软雅黑" panose="020B0503020204020204" pitchFamily="34" charset="-122"/>
                <a:ea typeface="微软雅黑" panose="020B0503020204020204" pitchFamily="34" charset="-122"/>
              </a:rPr>
              <a:t>+</a:t>
            </a:r>
            <a:r>
              <a:rPr lang="zh-CN" altLang="en-US" sz="1400">
                <a:solidFill>
                  <a:schemeClr val="tx1">
                    <a:lumMod val="50000"/>
                    <a:lumOff val="50000"/>
                  </a:schemeClr>
                </a:solidFill>
                <a:latin typeface="微软雅黑" panose="020B0503020204020204" pitchFamily="34" charset="-122"/>
                <a:ea typeface="微软雅黑" panose="020B0503020204020204" pitchFamily="34" charset="-122"/>
              </a:rPr>
              <a:t>文字）</a:t>
            </a:r>
            <a:endParaRPr lang="zh-CN" altLang="en-US" sz="140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8895" y="6582410"/>
            <a:ext cx="12387580" cy="275590"/>
          </a:xfrm>
          <a:prstGeom prst="rect">
            <a:avLst/>
          </a:prstGeom>
          <a:noFill/>
        </p:spPr>
        <p:txBody>
          <a:bodyPr wrap="square" rtlCol="0">
            <a:spAutoFit/>
          </a:bodyPr>
          <a:p>
            <a:r>
              <a:rPr lang="en-US" altLang="zh-CN" sz="1200">
                <a:solidFill>
                  <a:schemeClr val="bg1">
                    <a:lumMod val="50000"/>
                  </a:schemeClr>
                </a:solidFill>
              </a:rPr>
              <a:t>https://huggingface.co/datasets/Leyiii/Omni-SafetyBench?utm_source=chatgpt.com</a:t>
            </a:r>
            <a:endParaRPr lang="en-US" altLang="zh-CN" sz="1200">
              <a:solidFill>
                <a:schemeClr val="bg1">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DNAPPT-20251"/>
          <p:cNvPicPr>
            <a:picLocks noChangeAspect="1"/>
          </p:cNvPicPr>
          <p:nvPr/>
        </p:nvPicPr>
        <p:blipFill rotWithShape="1">
          <a:blip r:embed="rId1">
            <a:duotone>
              <a:schemeClr val="accent1">
                <a:shade val="45000"/>
                <a:satMod val="135000"/>
              </a:schemeClr>
              <a:prstClr val="white"/>
            </a:duotone>
          </a:blip>
          <a:srcRect l="11573" r="7017" b="9923"/>
          <a:stretch>
            <a:fillRect/>
          </a:stretch>
        </p:blipFill>
        <p:spPr>
          <a:xfrm>
            <a:off x="0" y="0"/>
            <a:ext cx="12192000" cy="4880610"/>
          </a:xfrm>
          <a:prstGeom prst="rect">
            <a:avLst/>
          </a:prstGeom>
        </p:spPr>
      </p:pic>
      <p:sp>
        <p:nvSpPr>
          <p:cNvPr id="7" name="DNAPPT-20252"/>
          <p:cNvSpPr/>
          <p:nvPr/>
        </p:nvSpPr>
        <p:spPr>
          <a:xfrm>
            <a:off x="0" y="0"/>
            <a:ext cx="12192000" cy="4880610"/>
          </a:xfrm>
          <a:prstGeom prst="rect">
            <a:avLst/>
          </a:prstGeom>
          <a:solidFill>
            <a:schemeClr val="accent1">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NAPPT-20253"/>
          <p:cNvSpPr txBox="1"/>
          <p:nvPr/>
        </p:nvSpPr>
        <p:spPr>
          <a:xfrm>
            <a:off x="4638623" y="5754560"/>
            <a:ext cx="3033154" cy="196850"/>
          </a:xfrm>
          <a:prstGeom prst="rect">
            <a:avLst/>
          </a:prstGeom>
        </p:spPr>
        <p:txBody>
          <a:bodyPr vert="horz" wrap="square" lIns="0" tIns="12700" rIns="0" bIns="0" rtlCol="0">
            <a:spAutoFit/>
          </a:bodyPr>
          <a:lstStyle/>
          <a:p>
            <a:pPr algn="ctr"/>
            <a:r>
              <a:rPr lang="zh-CN" altLang="en-US" sz="1200" b="1" spc="600">
                <a:solidFill>
                  <a:schemeClr val="accent1"/>
                </a:solidFill>
                <a:latin typeface="微软雅黑" panose="020B0503020204020204" pitchFamily="34" charset="-122"/>
                <a:ea typeface="微软雅黑" panose="020B0503020204020204" pitchFamily="34" charset="-122"/>
              </a:rPr>
              <a:t>明理精工</a:t>
            </a:r>
            <a:r>
              <a:rPr lang="en-US" altLang="zh-CN" sz="1200" b="1" spc="600">
                <a:solidFill>
                  <a:schemeClr val="accent1"/>
                </a:solidFill>
                <a:latin typeface="微软雅黑" panose="020B0503020204020204" pitchFamily="34" charset="-122"/>
                <a:ea typeface="微软雅黑" panose="020B0503020204020204" pitchFamily="34" charset="-122"/>
              </a:rPr>
              <a:t> </a:t>
            </a:r>
            <a:r>
              <a:rPr lang="zh-CN" altLang="en-US" sz="1200" b="1" spc="600">
                <a:solidFill>
                  <a:schemeClr val="accent1"/>
                </a:solidFill>
                <a:latin typeface="微软雅黑" panose="020B0503020204020204" pitchFamily="34" charset="-122"/>
                <a:ea typeface="微软雅黑" panose="020B0503020204020204" pitchFamily="34" charset="-122"/>
              </a:rPr>
              <a:t>与时偕行</a:t>
            </a:r>
            <a:endParaRPr lang="zh-CN" altLang="en-US" sz="1200" b="1" spc="600">
              <a:solidFill>
                <a:schemeClr val="accent1"/>
              </a:solidFill>
              <a:latin typeface="微软雅黑" panose="020B0503020204020204" pitchFamily="34" charset="-122"/>
              <a:ea typeface="微软雅黑" panose="020B0503020204020204" pitchFamily="34" charset="-122"/>
            </a:endParaRPr>
          </a:p>
        </p:txBody>
      </p:sp>
      <p:sp>
        <p:nvSpPr>
          <p:cNvPr id="18" name="DNAPPT-20251"/>
          <p:cNvSpPr txBox="1"/>
          <p:nvPr/>
        </p:nvSpPr>
        <p:spPr>
          <a:xfrm>
            <a:off x="3859268" y="3125373"/>
            <a:ext cx="4701669" cy="1015663"/>
          </a:xfrm>
          <a:prstGeom prst="rect">
            <a:avLst/>
          </a:prstGeom>
          <a:noFill/>
        </p:spPr>
        <p:txBody>
          <a:bodyPr wrap="square">
            <a:spAutoFit/>
          </a:bodyPr>
          <a:lstStyle/>
          <a:p>
            <a:pPr algn="ctr"/>
            <a:r>
              <a:rPr lang="zh-CN" altLang="en-US" sz="6000" b="1" kern="100" spc="600">
                <a:solidFill>
                  <a:schemeClr val="bg1"/>
                </a:solidFill>
                <a:effectLst/>
                <a:latin typeface="微软雅黑" panose="020B0503020204020204" pitchFamily="34" charset="-122"/>
                <a:ea typeface="微软雅黑" panose="020B0503020204020204" pitchFamily="34" charset="-122"/>
                <a:cs typeface="Times New Roman" panose="02020603050405020304" charset="0"/>
              </a:rPr>
              <a:t>谢 谢</a:t>
            </a:r>
            <a:endParaRPr lang="en-US" sz="6000" b="1" kern="100" spc="600">
              <a:solidFill>
                <a:schemeClr val="bg1"/>
              </a:solidFill>
              <a:effectLst/>
              <a:latin typeface="微软雅黑" panose="020B0503020204020204" pitchFamily="34" charset="-122"/>
              <a:ea typeface="微软雅黑" panose="020B0503020204020204" pitchFamily="34" charset="-122"/>
              <a:cs typeface="Times New Roman" panose="02020603050405020304" charset="0"/>
            </a:endParaRPr>
          </a:p>
        </p:txBody>
      </p:sp>
      <p:sp>
        <p:nvSpPr>
          <p:cNvPr id="19" name="DNAPPT-20252"/>
          <p:cNvSpPr txBox="1"/>
          <p:nvPr/>
        </p:nvSpPr>
        <p:spPr>
          <a:xfrm>
            <a:off x="3108960" y="2018270"/>
            <a:ext cx="6206489" cy="1015663"/>
          </a:xfrm>
          <a:prstGeom prst="rect">
            <a:avLst/>
          </a:prstGeom>
          <a:noFill/>
        </p:spPr>
        <p:txBody>
          <a:bodyPr wrap="square">
            <a:spAutoFit/>
          </a:bodyPr>
          <a:lstStyle/>
          <a:p>
            <a:pPr algn="ctr"/>
            <a:r>
              <a:rPr lang="en-US" altLang="zh-CN" sz="6000" b="1" kern="100" spc="600">
                <a:solidFill>
                  <a:schemeClr val="bg1"/>
                </a:solidFill>
                <a:effectLst/>
                <a:latin typeface="微软雅黑" panose="020B0503020204020204" pitchFamily="34" charset="-122"/>
                <a:ea typeface="微软雅黑" panose="020B0503020204020204" pitchFamily="34" charset="-122"/>
                <a:cs typeface="Times New Roman" panose="02020603050405020304" charset="0"/>
              </a:rPr>
              <a:t>THANKS</a:t>
            </a:r>
            <a:endParaRPr lang="en-US" sz="6000" b="1" kern="100" spc="600">
              <a:solidFill>
                <a:schemeClr val="bg1"/>
              </a:solidFill>
              <a:effectLst/>
              <a:latin typeface="微软雅黑" panose="020B0503020204020204" pitchFamily="34" charset="-122"/>
              <a:ea typeface="微软雅黑" panose="020B0503020204020204" pitchFamily="34" charset="-122"/>
              <a:cs typeface="Times New Roman" panose="02020603050405020304" charset="0"/>
            </a:endParaRPr>
          </a:p>
        </p:txBody>
      </p:sp>
      <p:sp>
        <p:nvSpPr>
          <p:cNvPr id="3" name="文本框 2"/>
          <p:cNvSpPr txBox="1"/>
          <p:nvPr/>
        </p:nvSpPr>
        <p:spPr>
          <a:xfrm>
            <a:off x="9658350" y="5703812"/>
            <a:ext cx="1995812" cy="337185"/>
          </a:xfrm>
          <a:prstGeom prst="rect">
            <a:avLst/>
          </a:prstGeom>
          <a:noFill/>
        </p:spPr>
        <p:txBody>
          <a:bodyPr wrap="square" rtlCol="0">
            <a:spAutoFit/>
          </a:bodyPr>
          <a:lstStyle/>
          <a:p>
            <a:pPr algn="dist"/>
            <a:r>
              <a:rPr lang="en-US" altLang="zh-CN" sz="1600">
                <a:solidFill>
                  <a:schemeClr val="accent1"/>
                </a:solidFill>
                <a:latin typeface="微软雅黑" panose="020B0503020204020204" pitchFamily="34" charset="-122"/>
                <a:ea typeface="微软雅黑" panose="020B0503020204020204" pitchFamily="34" charset="-122"/>
              </a:rPr>
              <a:t>2026</a:t>
            </a:r>
            <a:r>
              <a:rPr lang="zh-CN" altLang="en-US" sz="1600">
                <a:solidFill>
                  <a:schemeClr val="accent1"/>
                </a:solidFill>
                <a:latin typeface="微软雅黑" panose="020B0503020204020204" pitchFamily="34" charset="-122"/>
                <a:ea typeface="微软雅黑" panose="020B0503020204020204" pitchFamily="34" charset="-122"/>
              </a:rPr>
              <a:t>年</a:t>
            </a:r>
            <a:r>
              <a:rPr lang="en-US" altLang="zh-CN" sz="1600">
                <a:solidFill>
                  <a:schemeClr val="accent1"/>
                </a:solidFill>
                <a:latin typeface="微软雅黑" panose="020B0503020204020204" pitchFamily="34" charset="-122"/>
                <a:ea typeface="微软雅黑" panose="020B0503020204020204" pitchFamily="34" charset="-122"/>
              </a:rPr>
              <a:t>7</a:t>
            </a:r>
            <a:r>
              <a:rPr lang="zh-CN" altLang="en-US" sz="1600">
                <a:solidFill>
                  <a:schemeClr val="accent1"/>
                </a:solidFill>
                <a:latin typeface="微软雅黑" panose="020B0503020204020204" pitchFamily="34" charset="-122"/>
                <a:ea typeface="微软雅黑" panose="020B0503020204020204" pitchFamily="34" charset="-122"/>
              </a:rPr>
              <a:t>月</a:t>
            </a:r>
            <a:r>
              <a:rPr lang="en-US" altLang="zh-CN" sz="1600">
                <a:solidFill>
                  <a:schemeClr val="accent1"/>
                </a:solidFill>
                <a:latin typeface="微软雅黑" panose="020B0503020204020204" pitchFamily="34" charset="-122"/>
                <a:ea typeface="微软雅黑" panose="020B0503020204020204" pitchFamily="34" charset="-122"/>
              </a:rPr>
              <a:t>10</a:t>
            </a:r>
            <a:r>
              <a:rPr lang="zh-CN" altLang="en-US" sz="1600">
                <a:solidFill>
                  <a:schemeClr val="accent1"/>
                </a:solidFill>
                <a:latin typeface="微软雅黑" panose="020B0503020204020204" pitchFamily="34" charset="-122"/>
                <a:ea typeface="微软雅黑" panose="020B0503020204020204" pitchFamily="34" charset="-122"/>
              </a:rPr>
              <a:t>日</a:t>
            </a:r>
            <a:endParaRPr lang="zh-CN" altLang="en-US" sz="1600">
              <a:solidFill>
                <a:schemeClr val="accent1"/>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stretch>
            <a:fillRect/>
          </a:stretch>
        </p:blipFill>
        <p:spPr>
          <a:xfrm>
            <a:off x="310515" y="5343525"/>
            <a:ext cx="3112770" cy="89154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3.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4.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5.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6.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7.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8.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9.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10.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1.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2.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3.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4.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5.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6.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7.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8.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19.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20.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21.xml><?xml version="1.0" encoding="utf-8"?>
<p:tagLst xmlns:p="http://schemas.openxmlformats.org/presentationml/2006/main">
  <p:tag name="KSO_WM_DIAGRAM_VIRTUALLY_FRAME" val="{&quot;height&quot;:299.95787401574796,&quot;left&quot;:27.092755905511808,&quot;top&quot;:216.38496062992127,&quot;width&quot;:902.7358267716534}"/>
</p:tagLst>
</file>

<file path=ppt/tags/tag22.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3.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4.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5.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6.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7.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8.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29.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30.xml><?xml version="1.0" encoding="utf-8"?>
<p:tagLst xmlns:p="http://schemas.openxmlformats.org/presentationml/2006/main">
  <p:tag name="KSO_WM_DIAGRAM_VIRTUALLY_FRAME" val="{&quot;height&quot;:360.5072440944882,&quot;left&quot;:42.4944094488189,&quot;top&quot;:104.6927559055118,&quot;width&quot;:883.0599999999998}"/>
</p:tagLst>
</file>

<file path=ppt/tags/tag31.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2.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3.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4.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5.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6.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7.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8.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39.xml><?xml version="1.0" encoding="utf-8"?>
<p:tagLst xmlns:p="http://schemas.openxmlformats.org/presentationml/2006/main">
  <p:tag name="KSO_WM_DIAGRAM_VIRTUALLY_FRAME" val="{&quot;height&quot;:379.85724409448824,&quot;left&quot;:42.4944094488189,&quot;top&quot;:104.6927559055118,&quot;width&quot;:883.0599999999998}"/>
</p:tagLst>
</file>

<file path=ppt/tags/tag40.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1.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2.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3.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4.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5.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6.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7.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8.xml><?xml version="1.0" encoding="utf-8"?>
<p:tagLst xmlns:p="http://schemas.openxmlformats.org/presentationml/2006/main">
  <p:tag name="KSO_WM_DIAGRAM_VIRTUALLY_FRAME" val="{&quot;height&quot;:405.3072440944882,&quot;left&quot;:42.4944094488189,&quot;top&quot;:104.6927559055118,&quot;width&quot;:883.0599999999998}"/>
</p:tagLst>
</file>

<file path=ppt/tags/tag49.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0.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1.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2.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3.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4.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5.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6.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7.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8.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59.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0.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1.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2.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3.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4.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5.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6.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7.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8.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69.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0.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1.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2.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3.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4.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5.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6.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7.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8.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79.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0.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1.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2.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3.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4.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5.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6.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7.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8.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89.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0.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1.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2.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3.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4.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5.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6.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7.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8.xml><?xml version="1.0" encoding="utf-8"?>
<p:tagLst xmlns:p="http://schemas.openxmlformats.org/presentationml/2006/main">
  <p:tag name="KSO_WM_DIAGRAM_VIRTUALLY_FRAME" val="{&quot;height&quot;:392.0072440944882,&quot;left&quot;:42.4944094488189,&quot;top&quot;:104.6927559055118,&quot;width&quot;:883.0599999999998}"/>
</p:tagLst>
</file>

<file path=ppt/tags/tag99.xml><?xml version="1.0" encoding="utf-8"?>
<p:tagLst xmlns:p="http://schemas.openxmlformats.org/presentationml/2006/main">
  <p:tag name="KSO_WM_DIAGRAM_VIRTUALLY_FRAME" val="{&quot;height&quot;:392.0072440944882,&quot;left&quot;:42.4944094488189,&quot;top&quot;:104.6927559055118,&quot;width&quot;:883.0599999999998}"/>
</p:tagLst>
</file>

<file path=ppt/theme/theme1.xml><?xml version="1.0" encoding="utf-8"?>
<a:theme xmlns:a="http://schemas.openxmlformats.org/drawingml/2006/main" name="Office 主题​​">
  <a:themeElements>
    <a:clrScheme name="自定义 蓝色">
      <a:dk1>
        <a:sysClr val="windowText" lastClr="000000"/>
      </a:dk1>
      <a:lt1>
        <a:sysClr val="window" lastClr="FFFFFF"/>
      </a:lt1>
      <a:dk2>
        <a:srgbClr val="44546A"/>
      </a:dk2>
      <a:lt2>
        <a:srgbClr val="E7E6E6"/>
      </a:lt2>
      <a:accent1>
        <a:srgbClr val="00329F"/>
      </a:accent1>
      <a:accent2>
        <a:srgbClr val="B3CBFF"/>
      </a:accent2>
      <a:accent3>
        <a:srgbClr val="D1E0FF"/>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6528</Words>
  <Application>WPS 演示</Application>
  <PresentationFormat>宽屏</PresentationFormat>
  <Paragraphs>326</Paragraphs>
  <Slides>14</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宋体</vt:lpstr>
      <vt:lpstr>Wingdings</vt:lpstr>
      <vt:lpstr>微软雅黑</vt:lpstr>
      <vt:lpstr>Times New Roman</vt:lpstr>
      <vt:lpstr>Alibaba PuHuiTi</vt:lpstr>
      <vt:lpstr>Calibri</vt:lpstr>
      <vt:lpstr>Arial Unicode MS</vt:lpstr>
      <vt:lpstr>等线 Light</vt:lpstr>
      <vt:lpstr>Calibri Light</vt:lpstr>
      <vt:lpstr>等线</vt:lpstr>
      <vt:lpstr>Alibaba PuHuiTi</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Dnaer_02</dc:creator>
  <cp:lastModifiedBy>Elvis</cp:lastModifiedBy>
  <cp:revision>4289</cp:revision>
  <dcterms:created xsi:type="dcterms:W3CDTF">2023-02-24T01:49:00Z</dcterms:created>
  <dcterms:modified xsi:type="dcterms:W3CDTF">2026-07-15T02:08:12Z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07178C27B60A44F2854A6FCFF4B4F389_13</vt:lpwstr>
  </property>
</Properties>
</file>